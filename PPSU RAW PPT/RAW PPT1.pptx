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5" r:id="rId2"/>
  </p:sldMasterIdLst>
  <p:notesMasterIdLst>
    <p:notesMasterId r:id="rId26"/>
  </p:notesMasterIdLst>
  <p:sldIdLst>
    <p:sldId id="258" r:id="rId3"/>
    <p:sldId id="259" r:id="rId4"/>
    <p:sldId id="256" r:id="rId5"/>
    <p:sldId id="272" r:id="rId6"/>
    <p:sldId id="291" r:id="rId7"/>
    <p:sldId id="273" r:id="rId8"/>
    <p:sldId id="274" r:id="rId9"/>
    <p:sldId id="278" r:id="rId10"/>
    <p:sldId id="276" r:id="rId11"/>
    <p:sldId id="277"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71" r:id="rId25"/>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pos="544" userDrawn="1">
          <p15:clr>
            <a:srgbClr val="A4A3A4"/>
          </p15:clr>
        </p15:guide>
        <p15:guide id="2" orient="horz" pos="852" userDrawn="1">
          <p15:clr>
            <a:srgbClr val="A4A3A4"/>
          </p15:clr>
        </p15:guide>
        <p15:guide id="3" orient="horz" pos="1733" userDrawn="1">
          <p15:clr>
            <a:srgbClr val="A4A3A4"/>
          </p15:clr>
        </p15:guide>
        <p15:guide id="4" orient="horz" pos="2028" userDrawn="1">
          <p15:clr>
            <a:srgbClr val="A4A3A4"/>
          </p15:clr>
        </p15:guide>
        <p15:guide id="5" pos="5232" userDrawn="1">
          <p15:clr>
            <a:srgbClr val="A4A3A4"/>
          </p15:clr>
        </p15:guide>
        <p15:guide id="6" orient="horz" pos="20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181"/>
    <a:srgbClr val="FBB217"/>
    <a:srgbClr val="156082"/>
    <a:srgbClr val="F47820"/>
    <a:srgbClr val="F04B22"/>
    <a:srgbClr val="A57303"/>
    <a:srgbClr val="A84908"/>
    <a:srgbClr val="FEEFCE"/>
    <a:srgbClr val="FDE4D3"/>
    <a:srgbClr val="FBDD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5953" autoAdjust="0"/>
  </p:normalViewPr>
  <p:slideViewPr>
    <p:cSldViewPr snapToGrid="0" showGuides="1">
      <p:cViewPr varScale="1">
        <p:scale>
          <a:sx n="55" d="100"/>
          <a:sy n="55" d="100"/>
        </p:scale>
        <p:origin x="1776" y="60"/>
      </p:cViewPr>
      <p:guideLst>
        <p:guide pos="544"/>
        <p:guide orient="horz" pos="852"/>
        <p:guide orient="horz" pos="1733"/>
        <p:guide orient="horz" pos="2028"/>
        <p:guide pos="5232"/>
        <p:guide orient="horz" pos="207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CAA306-0FB0-4B25-BF82-E1F6D0E06118}" type="datetimeFigureOut">
              <a:rPr lang="en-IN" smtClean="0"/>
              <a:t>29-06-2026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25E8DC-296A-4EB7-8515-D32CBB342896}" type="slidenum">
              <a:rPr lang="en-IN" smtClean="0"/>
              <a:t>‹#›</a:t>
            </a:fld>
            <a:endParaRPr lang="en-IN"/>
          </a:p>
        </p:txBody>
      </p:sp>
    </p:spTree>
    <p:extLst>
      <p:ext uri="{BB962C8B-B14F-4D97-AF65-F5344CB8AC3E}">
        <p14:creationId xmlns:p14="http://schemas.microsoft.com/office/powerpoint/2010/main" val="109302885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Google Sans"/>
              </a:rPr>
              <a:t>Hello learners! In today's session, let us learn about the </a:t>
            </a:r>
            <a:r>
              <a:rPr lang="en-US" sz="900" kern="1200" dirty="0">
                <a:solidFill>
                  <a:schemeClr val="tx1"/>
                </a:solidFill>
                <a:effectLst/>
                <a:latin typeface="+mn-lt"/>
                <a:ea typeface="+mn-ea"/>
                <a:cs typeface="+mn-cs"/>
              </a:rPr>
              <a:t>Concept of Marginal Costing</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Marginal costing is a managerial accounting technique that analyses costs according to their behaviour and supports strategic decision making. Unlike absorption costing, it considers only variable manufacturing costs as product costs, while fixed costs are treated as period costs. The technique assists managers in evaluating profitability, determining optimal production levels, selecting product lines, choosing manufacturing methods, and making make-or-buy decisions. It also supports decisions regarding temporary shutdowns during periods of low demand. By focusing on contribution and the relationship between cost, volume, and profit, marginal costing provides a practical framework for improving resource utilisation and enhancing business performance in a competitive global environment.</a:t>
            </a:r>
          </a:p>
        </p:txBody>
      </p:sp>
      <p:sp>
        <p:nvSpPr>
          <p:cNvPr id="4" name="Slide Number Placeholder 3"/>
          <p:cNvSpPr>
            <a:spLocks noGrp="1"/>
          </p:cNvSpPr>
          <p:nvPr>
            <p:ph type="sldNum" sz="quarter" idx="5"/>
          </p:nvPr>
        </p:nvSpPr>
        <p:spPr/>
        <p:txBody>
          <a:bodyPr/>
          <a:lstStyle/>
          <a:p>
            <a:fld id="{8825E8DC-296A-4EB7-8515-D32CBB342896}" type="slidenum">
              <a:rPr lang="en-IN" smtClean="0"/>
              <a:t>2</a:t>
            </a:fld>
            <a:endParaRPr lang="en-IN"/>
          </a:p>
        </p:txBody>
      </p:sp>
    </p:spTree>
    <p:extLst>
      <p:ext uri="{BB962C8B-B14F-4D97-AF65-F5344CB8AC3E}">
        <p14:creationId xmlns:p14="http://schemas.microsoft.com/office/powerpoint/2010/main" val="943232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dirty="0"/>
              <a:t>By the end of this unit, you will be able to</a:t>
            </a:r>
            <a:endParaRPr lang="en-US" sz="900" kern="100" dirty="0">
              <a:solidFill>
                <a:srgbClr val="074F6A"/>
              </a:solidFill>
              <a:effectLst/>
              <a:latin typeface="Aptos" panose="020B0004020202020204" pitchFamily="34" charset="0"/>
              <a:ea typeface="Aptos" panose="020B0004020202020204" pitchFamily="34" charset="0"/>
              <a:cs typeface="Times New Roman" panose="02020603050405020304" pitchFamily="18" charset="0"/>
            </a:endParaRPr>
          </a:p>
          <a:p>
            <a:r>
              <a:rPr lang="en-GB" b="0" dirty="0"/>
              <a:t>Explain the concept of marginal costing </a:t>
            </a:r>
          </a:p>
          <a:p>
            <a:r>
              <a:rPr lang="en-GB" b="0" dirty="0"/>
              <a:t>Differentiate absorption and marginal costing techniques </a:t>
            </a:r>
          </a:p>
          <a:p>
            <a:r>
              <a:rPr lang="en-GB" b="0" dirty="0"/>
              <a:t>Calculate marginal cost using variable components </a:t>
            </a:r>
          </a:p>
          <a:p>
            <a:r>
              <a:rPr lang="en-GB" b="0" dirty="0"/>
              <a:t>Examine managerial decisions using marginal costing</a:t>
            </a:r>
          </a:p>
          <a:p>
            <a:endParaRPr lang="en-GB" dirty="0"/>
          </a:p>
          <a:p>
            <a:endParaRPr lang="en-GB" dirty="0"/>
          </a:p>
        </p:txBody>
      </p:sp>
      <p:sp>
        <p:nvSpPr>
          <p:cNvPr id="4" name="Slide Number Placeholder 3"/>
          <p:cNvSpPr>
            <a:spLocks noGrp="1"/>
          </p:cNvSpPr>
          <p:nvPr>
            <p:ph type="sldNum" sz="quarter" idx="5"/>
          </p:nvPr>
        </p:nvSpPr>
        <p:spPr/>
        <p:txBody>
          <a:bodyPr/>
          <a:lstStyle/>
          <a:p>
            <a:fld id="{8825E8DC-296A-4EB7-8515-D32CBB342896}" type="slidenum">
              <a:rPr lang="en-IN" smtClean="0"/>
              <a:t>3</a:t>
            </a:fld>
            <a:endParaRPr lang="en-IN"/>
          </a:p>
        </p:txBody>
      </p:sp>
    </p:spTree>
    <p:extLst>
      <p:ext uri="{BB962C8B-B14F-4D97-AF65-F5344CB8AC3E}">
        <p14:creationId xmlns:p14="http://schemas.microsoft.com/office/powerpoint/2010/main" val="4061403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Let us begin by understand the concept of marginal costing in cost accounting. The </a:t>
            </a:r>
            <a:r>
              <a:rPr lang="en-GB" sz="900" b="1" i="0" kern="1200" dirty="0">
                <a:solidFill>
                  <a:schemeClr val="tx1"/>
                </a:solidFill>
                <a:effectLst/>
                <a:latin typeface="+mn-lt"/>
                <a:ea typeface="+mn-ea"/>
                <a:cs typeface="+mn-cs"/>
              </a:rPr>
              <a:t>marginal costing technique is used for managerial decision making</a:t>
            </a:r>
            <a:r>
              <a:rPr lang="en-GB" sz="900" b="0" i="0" kern="1200" dirty="0">
                <a:solidFill>
                  <a:schemeClr val="tx1"/>
                </a:solidFill>
                <a:effectLst/>
                <a:latin typeface="+mn-lt"/>
                <a:ea typeface="+mn-ea"/>
                <a:cs typeface="+mn-cs"/>
              </a:rPr>
              <a:t>, as it helps managers evaluate different business alternatives effectively. It plays an important role in </a:t>
            </a:r>
            <a:r>
              <a:rPr lang="en-GB" sz="900" b="1" i="0" kern="1200" dirty="0">
                <a:solidFill>
                  <a:schemeClr val="tx1"/>
                </a:solidFill>
                <a:effectLst/>
                <a:latin typeface="+mn-lt"/>
                <a:ea typeface="+mn-ea"/>
                <a:cs typeface="+mn-cs"/>
              </a:rPr>
              <a:t>helping interpret cost data</a:t>
            </a:r>
            <a:r>
              <a:rPr lang="en-GB" sz="900" b="0" i="0" kern="1200" dirty="0">
                <a:solidFill>
                  <a:schemeClr val="tx1"/>
                </a:solidFill>
                <a:effectLst/>
                <a:latin typeface="+mn-lt"/>
                <a:ea typeface="+mn-ea"/>
                <a:cs typeface="+mn-cs"/>
              </a:rPr>
              <a:t>, providing a clear basis for analysing costs in decision-making situations. This approach is useful in </a:t>
            </a:r>
            <a:r>
              <a:rPr lang="en-GB" sz="900" b="1" i="0" kern="1200" dirty="0">
                <a:solidFill>
                  <a:schemeClr val="tx1"/>
                </a:solidFill>
                <a:effectLst/>
                <a:latin typeface="+mn-lt"/>
                <a:ea typeface="+mn-ea"/>
                <a:cs typeface="+mn-cs"/>
              </a:rPr>
              <a:t>measuring profitability of products</a:t>
            </a:r>
            <a:r>
              <a:rPr lang="en-GB" sz="900" b="0" i="0" kern="1200" dirty="0">
                <a:solidFill>
                  <a:schemeClr val="tx1"/>
                </a:solidFill>
                <a:effectLst/>
                <a:latin typeface="+mn-lt"/>
                <a:ea typeface="+mn-ea"/>
                <a:cs typeface="+mn-cs"/>
              </a:rPr>
              <a:t>, processes, and cost centres by focusing on contribution rather than total cost. Another key feature is </a:t>
            </a:r>
            <a:r>
              <a:rPr lang="en-GB" sz="900" b="1" i="0" kern="1200" dirty="0">
                <a:solidFill>
                  <a:schemeClr val="tx1"/>
                </a:solidFill>
                <a:effectLst/>
                <a:latin typeface="+mn-lt"/>
                <a:ea typeface="+mn-ea"/>
                <a:cs typeface="+mn-cs"/>
              </a:rPr>
              <a:t>working with other costing methods</a:t>
            </a:r>
            <a:r>
              <a:rPr lang="en-GB" sz="900" b="0" i="0" kern="1200" dirty="0">
                <a:solidFill>
                  <a:schemeClr val="tx1"/>
                </a:solidFill>
                <a:effectLst/>
                <a:latin typeface="+mn-lt"/>
                <a:ea typeface="+mn-ea"/>
                <a:cs typeface="+mn-cs"/>
              </a:rPr>
              <a:t>, as it can be applied alongside job costing, process costing, standard costing, or budgetary control systems. The concept is also </a:t>
            </a:r>
            <a:r>
              <a:rPr lang="en-GB" sz="900" b="1" i="0" kern="1200" dirty="0">
                <a:solidFill>
                  <a:schemeClr val="tx1"/>
                </a:solidFill>
                <a:effectLst/>
                <a:latin typeface="+mn-lt"/>
                <a:ea typeface="+mn-ea"/>
                <a:cs typeface="+mn-cs"/>
              </a:rPr>
              <a:t>based on cost behaviour analysis</a:t>
            </a:r>
            <a:r>
              <a:rPr lang="en-GB" sz="900" b="0" i="0" kern="1200" dirty="0">
                <a:solidFill>
                  <a:schemeClr val="tx1"/>
                </a:solidFill>
                <a:effectLst/>
                <a:latin typeface="+mn-lt"/>
                <a:ea typeface="+mn-ea"/>
                <a:cs typeface="+mn-cs"/>
              </a:rPr>
              <a:t>, where costs are classified into fixed and variable to understand their impact on profit. Overall, marginal costing provides a practical and flexible approach for analysing costs, improving decisions, and enhancing profitability, helping organisations achieve better control, efficient planning, and improved financial performance in challenging business environments. </a:t>
            </a:r>
          </a:p>
        </p:txBody>
      </p:sp>
      <p:sp>
        <p:nvSpPr>
          <p:cNvPr id="4" name="Slide Number Placeholder 3"/>
          <p:cNvSpPr>
            <a:spLocks noGrp="1"/>
          </p:cNvSpPr>
          <p:nvPr>
            <p:ph type="sldNum" sz="quarter" idx="5"/>
          </p:nvPr>
        </p:nvSpPr>
        <p:spPr/>
        <p:txBody>
          <a:bodyPr/>
          <a:lstStyle/>
          <a:p>
            <a:fld id="{8825E8DC-296A-4EB7-8515-D32CBB342896}" type="slidenum">
              <a:rPr lang="en-IN" smtClean="0"/>
              <a:t>4</a:t>
            </a:fld>
            <a:endParaRPr lang="en-IN"/>
          </a:p>
        </p:txBody>
      </p:sp>
    </p:spTree>
    <p:extLst>
      <p:ext uri="{BB962C8B-B14F-4D97-AF65-F5344CB8AC3E}">
        <p14:creationId xmlns:p14="http://schemas.microsoft.com/office/powerpoint/2010/main" val="827596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5FAD2-54B3-9FFC-F960-F00B1615C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FFDB0-3C7F-F940-392E-B6761BBF82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87E0C4-265C-82C2-F5CC-FC843C2EC716}"/>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The </a:t>
            </a:r>
            <a:r>
              <a:rPr lang="en-GB" sz="900" b="1" i="0" kern="1200" dirty="0">
                <a:solidFill>
                  <a:schemeClr val="tx1"/>
                </a:solidFill>
                <a:effectLst/>
                <a:latin typeface="+mn-lt"/>
                <a:ea typeface="+mn-ea"/>
                <a:cs typeface="+mn-cs"/>
              </a:rPr>
              <a:t>nature of marginal costing is based on the nature of cost</a:t>
            </a:r>
            <a:r>
              <a:rPr lang="en-GB" sz="900" b="0" i="0" kern="1200" dirty="0">
                <a:solidFill>
                  <a:schemeClr val="tx1"/>
                </a:solidFill>
                <a:effectLst/>
                <a:latin typeface="+mn-lt"/>
                <a:ea typeface="+mn-ea"/>
                <a:cs typeface="+mn-cs"/>
              </a:rPr>
              <a:t>, where costs are classified according to their characteristics. It mainly works by </a:t>
            </a:r>
            <a:r>
              <a:rPr lang="en-GB" sz="900" b="1" i="0" kern="1200" dirty="0">
                <a:solidFill>
                  <a:schemeClr val="tx1"/>
                </a:solidFill>
                <a:effectLst/>
                <a:latin typeface="+mn-lt"/>
                <a:ea typeface="+mn-ea"/>
                <a:cs typeface="+mn-cs"/>
              </a:rPr>
              <a:t>considering cost behaviour patterns</a:t>
            </a:r>
            <a:r>
              <a:rPr lang="en-GB" sz="900" b="0" i="0" kern="1200" dirty="0">
                <a:solidFill>
                  <a:schemeClr val="tx1"/>
                </a:solidFill>
                <a:effectLst/>
                <a:latin typeface="+mn-lt"/>
                <a:ea typeface="+mn-ea"/>
                <a:cs typeface="+mn-cs"/>
              </a:rPr>
              <a:t>, which means identifying how costs change with variations in output levels. This technique is </a:t>
            </a:r>
            <a:r>
              <a:rPr lang="en-GB" sz="900" b="1" i="0" kern="1200" dirty="0">
                <a:solidFill>
                  <a:schemeClr val="tx1"/>
                </a:solidFill>
                <a:effectLst/>
                <a:latin typeface="+mn-lt"/>
                <a:ea typeface="+mn-ea"/>
                <a:cs typeface="+mn-cs"/>
              </a:rPr>
              <a:t>developed from cost concepts</a:t>
            </a:r>
            <a:r>
              <a:rPr lang="en-GB" sz="900" b="0" i="0" kern="1200" dirty="0">
                <a:solidFill>
                  <a:schemeClr val="tx1"/>
                </a:solidFill>
                <a:effectLst/>
                <a:latin typeface="+mn-lt"/>
                <a:ea typeface="+mn-ea"/>
                <a:cs typeface="+mn-cs"/>
              </a:rPr>
              <a:t>, focusing on understanding the relationship between cost behaviour and profitability. By analysing these aspects, it helps in </a:t>
            </a:r>
            <a:r>
              <a:rPr lang="en-GB" sz="900" b="1" i="0" kern="1200" dirty="0">
                <a:solidFill>
                  <a:schemeClr val="tx1"/>
                </a:solidFill>
                <a:effectLst/>
                <a:latin typeface="+mn-lt"/>
                <a:ea typeface="+mn-ea"/>
                <a:cs typeface="+mn-cs"/>
              </a:rPr>
              <a:t>affecting profitability analysis</a:t>
            </a:r>
            <a:r>
              <a:rPr lang="en-GB" sz="900" b="0" i="0" kern="1200" dirty="0">
                <a:solidFill>
                  <a:schemeClr val="tx1"/>
                </a:solidFill>
                <a:effectLst/>
                <a:latin typeface="+mn-lt"/>
                <a:ea typeface="+mn-ea"/>
                <a:cs typeface="+mn-cs"/>
              </a:rPr>
              <a:t>, allowing managers to evaluate how different costs influence overall profit. In addition, it is important to recognise that marginal costing is </a:t>
            </a:r>
            <a:r>
              <a:rPr lang="en-GB" sz="900" b="1" i="0" kern="1200" dirty="0">
                <a:solidFill>
                  <a:schemeClr val="tx1"/>
                </a:solidFill>
                <a:effectLst/>
                <a:latin typeface="+mn-lt"/>
                <a:ea typeface="+mn-ea"/>
                <a:cs typeface="+mn-cs"/>
              </a:rPr>
              <a:t>different from absorption costing</a:t>
            </a:r>
            <a:r>
              <a:rPr lang="en-GB" sz="900" b="0" i="0" kern="1200" dirty="0">
                <a:solidFill>
                  <a:schemeClr val="tx1"/>
                </a:solidFill>
                <a:effectLst/>
                <a:latin typeface="+mn-lt"/>
                <a:ea typeface="+mn-ea"/>
                <a:cs typeface="+mn-cs"/>
              </a:rPr>
              <a:t>, as it considers only variable costs while fixed costs are treated separately. This distinction makes marginal costing more suitable for decision-making purposes. Overall, the technique provides a clear understanding of cost behaviour, improves cost control, and supports effective managerial decisions aimed at enhancing profitability in various business situations consistently over time</a:t>
            </a:r>
          </a:p>
          <a:p>
            <a:pPr fontAlgn="t"/>
            <a:endParaRPr lang="en-GB" sz="9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1F149B4-412C-C3C6-13BD-4917E27C1E4B}"/>
              </a:ext>
            </a:extLst>
          </p:cNvPr>
          <p:cNvSpPr>
            <a:spLocks noGrp="1"/>
          </p:cNvSpPr>
          <p:nvPr>
            <p:ph type="sldNum" sz="quarter" idx="5"/>
          </p:nvPr>
        </p:nvSpPr>
        <p:spPr/>
        <p:txBody>
          <a:bodyPr/>
          <a:lstStyle/>
          <a:p>
            <a:fld id="{8825E8DC-296A-4EB7-8515-D32CBB342896}" type="slidenum">
              <a:rPr lang="en-IN" smtClean="0"/>
              <a:t>5</a:t>
            </a:fld>
            <a:endParaRPr lang="en-IN"/>
          </a:p>
        </p:txBody>
      </p:sp>
    </p:spTree>
    <p:extLst>
      <p:ext uri="{BB962C8B-B14F-4D97-AF65-F5344CB8AC3E}">
        <p14:creationId xmlns:p14="http://schemas.microsoft.com/office/powerpoint/2010/main" val="300103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29DDA-43FC-32E7-EFD0-E17E5579A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5C7FE-40C4-57EB-92BA-4931951B97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1D42BC-84A8-11F9-7548-DC94796BD7B6}"/>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Here are some of the key differences between absorption costing and marginal costing. In terms of cost inclusion, </a:t>
            </a:r>
            <a:r>
              <a:rPr lang="en-GB" sz="900" b="1" i="0" kern="1200" dirty="0">
                <a:solidFill>
                  <a:schemeClr val="tx1"/>
                </a:solidFill>
                <a:effectLst/>
                <a:latin typeface="+mn-lt"/>
                <a:ea typeface="+mn-ea"/>
                <a:cs typeface="+mn-cs"/>
              </a:rPr>
              <a:t>absorption costing includes both fixed and variable manufacturing costs</a:t>
            </a:r>
            <a:r>
              <a:rPr lang="en-GB" sz="900" b="0" i="0" kern="1200" dirty="0">
                <a:solidFill>
                  <a:schemeClr val="tx1"/>
                </a:solidFill>
                <a:effectLst/>
                <a:latin typeface="+mn-lt"/>
                <a:ea typeface="+mn-ea"/>
                <a:cs typeface="+mn-cs"/>
              </a:rPr>
              <a:t>, ensuring all production expenses are considered, whereas </a:t>
            </a:r>
            <a:r>
              <a:rPr lang="en-GB" sz="900" b="1" i="0" kern="1200" dirty="0">
                <a:solidFill>
                  <a:schemeClr val="tx1"/>
                </a:solidFill>
                <a:effectLst/>
                <a:latin typeface="+mn-lt"/>
                <a:ea typeface="+mn-ea"/>
                <a:cs typeface="+mn-cs"/>
              </a:rPr>
              <a:t>marginal costing includes only variable manufacturing costs</a:t>
            </a:r>
            <a:r>
              <a:rPr lang="en-GB" sz="900" b="0" i="0" kern="1200" dirty="0">
                <a:solidFill>
                  <a:schemeClr val="tx1"/>
                </a:solidFill>
                <a:effectLst/>
                <a:latin typeface="+mn-lt"/>
                <a:ea typeface="+mn-ea"/>
                <a:cs typeface="+mn-cs"/>
              </a:rPr>
              <a:t>, focusing on costs that change with output. Looking at the purpose, </a:t>
            </a:r>
            <a:r>
              <a:rPr lang="en-GB" sz="900" b="1" i="0" kern="1200" dirty="0">
                <a:solidFill>
                  <a:schemeClr val="tx1"/>
                </a:solidFill>
                <a:effectLst/>
                <a:latin typeface="+mn-lt"/>
                <a:ea typeface="+mn-ea"/>
                <a:cs typeface="+mn-cs"/>
              </a:rPr>
              <a:t>absorption costing is used for cost control</a:t>
            </a:r>
            <a:r>
              <a:rPr lang="en-GB" sz="900" b="0" i="0" kern="1200" dirty="0">
                <a:solidFill>
                  <a:schemeClr val="tx1"/>
                </a:solidFill>
                <a:effectLst/>
                <a:latin typeface="+mn-lt"/>
                <a:ea typeface="+mn-ea"/>
                <a:cs typeface="+mn-cs"/>
              </a:rPr>
              <a:t>, helping in overall cost determination, while </a:t>
            </a:r>
            <a:r>
              <a:rPr lang="en-GB" sz="900" b="1" i="0" kern="1200" dirty="0">
                <a:solidFill>
                  <a:schemeClr val="tx1"/>
                </a:solidFill>
                <a:effectLst/>
                <a:latin typeface="+mn-lt"/>
                <a:ea typeface="+mn-ea"/>
                <a:cs typeface="+mn-cs"/>
              </a:rPr>
              <a:t>marginal costing is used for managerial decision-making and control</a:t>
            </a:r>
            <a:r>
              <a:rPr lang="en-GB" sz="900" b="0" i="0" kern="1200" dirty="0">
                <a:solidFill>
                  <a:schemeClr val="tx1"/>
                </a:solidFill>
                <a:effectLst/>
                <a:latin typeface="+mn-lt"/>
                <a:ea typeface="+mn-ea"/>
                <a:cs typeface="+mn-cs"/>
              </a:rPr>
              <a:t>, supporting decisions like pricing and output levels. For inventory valuation, </a:t>
            </a:r>
            <a:r>
              <a:rPr lang="en-GB" sz="900" b="1" i="0" kern="1200" dirty="0">
                <a:solidFill>
                  <a:schemeClr val="tx1"/>
                </a:solidFill>
                <a:effectLst/>
                <a:latin typeface="+mn-lt"/>
                <a:ea typeface="+mn-ea"/>
                <a:cs typeface="+mn-cs"/>
              </a:rPr>
              <a:t>absorption costing values inventory with both fixed and variable costs</a:t>
            </a:r>
            <a:r>
              <a:rPr lang="en-GB" sz="900" b="0" i="0" kern="1200" dirty="0">
                <a:solidFill>
                  <a:schemeClr val="tx1"/>
                </a:solidFill>
                <a:effectLst/>
                <a:latin typeface="+mn-lt"/>
                <a:ea typeface="+mn-ea"/>
                <a:cs typeface="+mn-cs"/>
              </a:rPr>
              <a:t>, whereas </a:t>
            </a:r>
            <a:r>
              <a:rPr lang="en-GB" sz="900" b="1" i="0" kern="1200" dirty="0">
                <a:solidFill>
                  <a:schemeClr val="tx1"/>
                </a:solidFill>
                <a:effectLst/>
                <a:latin typeface="+mn-lt"/>
                <a:ea typeface="+mn-ea"/>
                <a:cs typeface="+mn-cs"/>
              </a:rPr>
              <a:t>marginal costing includes only variable costs in inventory valuation</a:t>
            </a:r>
            <a:r>
              <a:rPr lang="en-GB" sz="900" b="0" i="0" kern="1200" dirty="0">
                <a:solidFill>
                  <a:schemeClr val="tx1"/>
                </a:solidFill>
                <a:effectLst/>
                <a:latin typeface="+mn-lt"/>
                <a:ea typeface="+mn-ea"/>
                <a:cs typeface="+mn-cs"/>
              </a:rPr>
              <a:t>, excluding fixed overheads. Finally, in terms of nature, </a:t>
            </a:r>
            <a:r>
              <a:rPr lang="en-GB" sz="900" b="1" i="0" kern="1200" dirty="0">
                <a:solidFill>
                  <a:schemeClr val="tx1"/>
                </a:solidFill>
                <a:effectLst/>
                <a:latin typeface="+mn-lt"/>
                <a:ea typeface="+mn-ea"/>
                <a:cs typeface="+mn-cs"/>
              </a:rPr>
              <a:t>absorption costing is a costing method</a:t>
            </a:r>
            <a:r>
              <a:rPr lang="en-GB" sz="900" b="0" i="0" kern="1200" dirty="0">
                <a:solidFill>
                  <a:schemeClr val="tx1"/>
                </a:solidFill>
                <a:effectLst/>
                <a:latin typeface="+mn-lt"/>
                <a:ea typeface="+mn-ea"/>
                <a:cs typeface="+mn-cs"/>
              </a:rPr>
              <a:t>, while </a:t>
            </a:r>
            <a:r>
              <a:rPr lang="en-GB" sz="900" b="1" i="0" kern="1200" dirty="0">
                <a:solidFill>
                  <a:schemeClr val="tx1"/>
                </a:solidFill>
                <a:effectLst/>
                <a:latin typeface="+mn-lt"/>
                <a:ea typeface="+mn-ea"/>
                <a:cs typeface="+mn-cs"/>
              </a:rPr>
              <a:t>marginal costing is a costing technique</a:t>
            </a:r>
            <a:r>
              <a:rPr lang="en-GB" sz="900" b="0" i="0" kern="1200" dirty="0">
                <a:solidFill>
                  <a:schemeClr val="tx1"/>
                </a:solidFill>
                <a:effectLst/>
                <a:latin typeface="+mn-lt"/>
                <a:ea typeface="+mn-ea"/>
                <a:cs typeface="+mn-cs"/>
              </a:rPr>
              <a:t>, used mainly for analysis and decision-making.</a:t>
            </a:r>
          </a:p>
          <a:p>
            <a:pPr fontAlgn="t"/>
            <a:r>
              <a:rPr lang="en-GB" sz="900" b="0" i="0" kern="1200" dirty="0">
                <a:solidFill>
                  <a:schemeClr val="tx1"/>
                </a:solidFill>
                <a:effectLst/>
                <a:latin typeface="+mn-lt"/>
                <a:ea typeface="+mn-ea"/>
                <a:cs typeface="+mn-cs"/>
              </a:rPr>
              <a:t>Together, these differences show how each approach serves different purposes in cost analysis and management.</a:t>
            </a:r>
          </a:p>
          <a:p>
            <a:pPr marL="0" indent="0" algn="l">
              <a:buNone/>
            </a:pPr>
            <a:endParaRPr lang="en-GB" b="0" dirty="0"/>
          </a:p>
        </p:txBody>
      </p:sp>
      <p:sp>
        <p:nvSpPr>
          <p:cNvPr id="4" name="Slide Number Placeholder 3">
            <a:extLst>
              <a:ext uri="{FF2B5EF4-FFF2-40B4-BE49-F238E27FC236}">
                <a16:creationId xmlns:a16="http://schemas.microsoft.com/office/drawing/2014/main" id="{A3C17916-194B-954D-049F-EA7BB32252B5}"/>
              </a:ext>
            </a:extLst>
          </p:cNvPr>
          <p:cNvSpPr>
            <a:spLocks noGrp="1"/>
          </p:cNvSpPr>
          <p:nvPr>
            <p:ph type="sldNum" sz="quarter" idx="5"/>
          </p:nvPr>
        </p:nvSpPr>
        <p:spPr/>
        <p:txBody>
          <a:bodyPr/>
          <a:lstStyle/>
          <a:p>
            <a:fld id="{8825E8DC-296A-4EB7-8515-D32CBB342896}" type="slidenum">
              <a:rPr lang="en-IN" smtClean="0"/>
              <a:t>6</a:t>
            </a:fld>
            <a:endParaRPr lang="en-IN"/>
          </a:p>
        </p:txBody>
      </p:sp>
    </p:spTree>
    <p:extLst>
      <p:ext uri="{BB962C8B-B14F-4D97-AF65-F5344CB8AC3E}">
        <p14:creationId xmlns:p14="http://schemas.microsoft.com/office/powerpoint/2010/main" val="31412853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BE10A-89C2-9BC1-F52D-898209A33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7D3D40-6FCE-899D-5C59-699F6DDC66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6207E-5D32-7F3A-B5A4-57D7FA749839}"/>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Marginal costing can be effectively used along with other costing and control systems to improve analysis and decision-making. It can be applied with </a:t>
            </a:r>
            <a:r>
              <a:rPr lang="en-GB" sz="900" b="1" i="0" kern="1200" dirty="0">
                <a:solidFill>
                  <a:schemeClr val="tx1"/>
                </a:solidFill>
                <a:effectLst/>
                <a:latin typeface="+mn-lt"/>
                <a:ea typeface="+mn-ea"/>
                <a:cs typeface="+mn-cs"/>
              </a:rPr>
              <a:t>job costing</a:t>
            </a:r>
            <a:r>
              <a:rPr lang="en-GB" sz="900" b="0" i="0" kern="1200" dirty="0">
                <a:solidFill>
                  <a:schemeClr val="tx1"/>
                </a:solidFill>
                <a:effectLst/>
                <a:latin typeface="+mn-lt"/>
                <a:ea typeface="+mn-ea"/>
                <a:cs typeface="+mn-cs"/>
              </a:rPr>
              <a:t>, where costs are calculated for specific jobs, helping in understanding the contribution and profitability of each job.</a:t>
            </a:r>
          </a:p>
          <a:p>
            <a:pPr fontAlgn="t"/>
            <a:r>
              <a:rPr lang="en-GB" sz="900" b="0" i="0" kern="1200" dirty="0">
                <a:solidFill>
                  <a:schemeClr val="tx1"/>
                </a:solidFill>
                <a:effectLst/>
                <a:latin typeface="+mn-lt"/>
                <a:ea typeface="+mn-ea"/>
                <a:cs typeface="+mn-cs"/>
              </a:rPr>
              <a:t>It is also useful with </a:t>
            </a:r>
            <a:r>
              <a:rPr lang="en-GB" sz="900" b="1" i="0" kern="1200" dirty="0">
                <a:solidFill>
                  <a:schemeClr val="tx1"/>
                </a:solidFill>
                <a:effectLst/>
                <a:latin typeface="+mn-lt"/>
                <a:ea typeface="+mn-ea"/>
                <a:cs typeface="+mn-cs"/>
              </a:rPr>
              <a:t>process costing</a:t>
            </a:r>
            <a:r>
              <a:rPr lang="en-GB" sz="900" b="0" i="0" kern="1200" dirty="0">
                <a:solidFill>
                  <a:schemeClr val="tx1"/>
                </a:solidFill>
                <a:effectLst/>
                <a:latin typeface="+mn-lt"/>
                <a:ea typeface="+mn-ea"/>
                <a:cs typeface="+mn-cs"/>
              </a:rPr>
              <a:t>, where production is continuous and costs are accumulated stage-wise, allowing better control over variable costs at each process.</a:t>
            </a:r>
          </a:p>
          <a:p>
            <a:pPr fontAlgn="t"/>
            <a:r>
              <a:rPr lang="en-GB" sz="900" b="0" i="0" kern="1200" dirty="0">
                <a:solidFill>
                  <a:schemeClr val="tx1"/>
                </a:solidFill>
                <a:effectLst/>
                <a:latin typeface="+mn-lt"/>
                <a:ea typeface="+mn-ea"/>
                <a:cs typeface="+mn-cs"/>
              </a:rPr>
              <a:t>Further, marginal costing works well with </a:t>
            </a:r>
            <a:r>
              <a:rPr lang="en-GB" sz="900" b="1" i="0" kern="1200" dirty="0">
                <a:solidFill>
                  <a:schemeClr val="tx1"/>
                </a:solidFill>
                <a:effectLst/>
                <a:latin typeface="+mn-lt"/>
                <a:ea typeface="+mn-ea"/>
                <a:cs typeface="+mn-cs"/>
              </a:rPr>
              <a:t>standard costing</a:t>
            </a:r>
            <a:r>
              <a:rPr lang="en-GB" sz="900" b="0" i="0" kern="1200" dirty="0">
                <a:solidFill>
                  <a:schemeClr val="tx1"/>
                </a:solidFill>
                <a:effectLst/>
                <a:latin typeface="+mn-lt"/>
                <a:ea typeface="+mn-ea"/>
                <a:cs typeface="+mn-cs"/>
              </a:rPr>
              <a:t>, where standard costs are compared with actual costs, and variances are analysed. This combination helps in identifying efficiency and controlling costs effectively.</a:t>
            </a:r>
          </a:p>
          <a:p>
            <a:pPr fontAlgn="t"/>
            <a:r>
              <a:rPr lang="en-GB" sz="900" b="0" i="0" kern="1200" dirty="0">
                <a:solidFill>
                  <a:schemeClr val="tx1"/>
                </a:solidFill>
                <a:effectLst/>
                <a:latin typeface="+mn-lt"/>
                <a:ea typeface="+mn-ea"/>
                <a:cs typeface="+mn-cs"/>
              </a:rPr>
              <a:t>In addition, it supports </a:t>
            </a:r>
            <a:r>
              <a:rPr lang="en-GB" sz="900" b="1" i="0" kern="1200" dirty="0">
                <a:solidFill>
                  <a:schemeClr val="tx1"/>
                </a:solidFill>
                <a:effectLst/>
                <a:latin typeface="+mn-lt"/>
                <a:ea typeface="+mn-ea"/>
                <a:cs typeface="+mn-cs"/>
              </a:rPr>
              <a:t>budgetary control</a:t>
            </a:r>
            <a:r>
              <a:rPr lang="en-GB" sz="900" b="0" i="0" kern="1200" dirty="0">
                <a:solidFill>
                  <a:schemeClr val="tx1"/>
                </a:solidFill>
                <a:effectLst/>
                <a:latin typeface="+mn-lt"/>
                <a:ea typeface="+mn-ea"/>
                <a:cs typeface="+mn-cs"/>
              </a:rPr>
              <a:t>, where budgets are prepared and compared with actual performance. Marginal costing helps focus on variable costs and contribution, improving planning and control.</a:t>
            </a:r>
          </a:p>
          <a:p>
            <a:pPr fontAlgn="t"/>
            <a:r>
              <a:rPr lang="en-GB" sz="900" b="0" i="0" kern="1200" dirty="0">
                <a:solidFill>
                  <a:schemeClr val="tx1"/>
                </a:solidFill>
                <a:effectLst/>
                <a:latin typeface="+mn-lt"/>
                <a:ea typeface="+mn-ea"/>
                <a:cs typeface="+mn-cs"/>
              </a:rPr>
              <a:t>Together, using marginal costing with these systems enhances cost analysis, supports decision-making, and improves overall financial control in organisations.</a:t>
            </a:r>
          </a:p>
          <a:p>
            <a:pPr marL="0" indent="0" algn="l">
              <a:buNone/>
            </a:pPr>
            <a:endParaRPr lang="en-GB" b="0" dirty="0"/>
          </a:p>
        </p:txBody>
      </p:sp>
      <p:sp>
        <p:nvSpPr>
          <p:cNvPr id="4" name="Slide Number Placeholder 3">
            <a:extLst>
              <a:ext uri="{FF2B5EF4-FFF2-40B4-BE49-F238E27FC236}">
                <a16:creationId xmlns:a16="http://schemas.microsoft.com/office/drawing/2014/main" id="{B679FEAA-E71D-BC92-B0AA-ED9E5594817F}"/>
              </a:ext>
            </a:extLst>
          </p:cNvPr>
          <p:cNvSpPr>
            <a:spLocks noGrp="1"/>
          </p:cNvSpPr>
          <p:nvPr>
            <p:ph type="sldNum" sz="quarter" idx="5"/>
          </p:nvPr>
        </p:nvSpPr>
        <p:spPr/>
        <p:txBody>
          <a:bodyPr/>
          <a:lstStyle/>
          <a:p>
            <a:fld id="{8825E8DC-296A-4EB7-8515-D32CBB342896}" type="slidenum">
              <a:rPr lang="en-IN" smtClean="0"/>
              <a:t>7</a:t>
            </a:fld>
            <a:endParaRPr lang="en-IN"/>
          </a:p>
        </p:txBody>
      </p:sp>
    </p:spTree>
    <p:extLst>
      <p:ext uri="{BB962C8B-B14F-4D97-AF65-F5344CB8AC3E}">
        <p14:creationId xmlns:p14="http://schemas.microsoft.com/office/powerpoint/2010/main" val="985567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42C41-966B-B52E-91CE-8B59036CC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8129D4-3452-FDC8-5EFF-9FD00DC5CC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6B7033-BD77-242F-707A-61365BD983D8}"/>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The </a:t>
            </a:r>
            <a:r>
              <a:rPr lang="en-GB" sz="900" b="1" i="0" kern="1200" dirty="0">
                <a:solidFill>
                  <a:schemeClr val="tx1"/>
                </a:solidFill>
                <a:effectLst/>
                <a:latin typeface="+mn-lt"/>
                <a:ea typeface="+mn-ea"/>
                <a:cs typeface="+mn-cs"/>
              </a:rPr>
              <a:t>marginal cost refers to the cost of one extra unit produced</a:t>
            </a:r>
            <a:r>
              <a:rPr lang="en-GB" sz="900" b="0" i="0" kern="1200" dirty="0">
                <a:solidFill>
                  <a:schemeClr val="tx1"/>
                </a:solidFill>
                <a:effectLst/>
                <a:latin typeface="+mn-lt"/>
                <a:ea typeface="+mn-ea"/>
                <a:cs typeface="+mn-cs"/>
              </a:rPr>
              <a:t>, as explained by economists in cost analysis. It is calculated with </a:t>
            </a:r>
            <a:r>
              <a:rPr lang="en-GB" sz="900" b="1" i="0" kern="1200" dirty="0">
                <a:solidFill>
                  <a:schemeClr val="tx1"/>
                </a:solidFill>
                <a:effectLst/>
                <a:latin typeface="+mn-lt"/>
                <a:ea typeface="+mn-ea"/>
                <a:cs typeface="+mn-cs"/>
              </a:rPr>
              <a:t>being based on change in total cost</a:t>
            </a:r>
            <a:r>
              <a:rPr lang="en-GB" sz="900" b="0" i="0" kern="1200" dirty="0">
                <a:solidFill>
                  <a:schemeClr val="tx1"/>
                </a:solidFill>
                <a:effectLst/>
                <a:latin typeface="+mn-lt"/>
                <a:ea typeface="+mn-ea"/>
                <a:cs typeface="+mn-cs"/>
              </a:rPr>
              <a:t>, where the difference in total cost is observed when output changes. This involves </a:t>
            </a:r>
            <a:r>
              <a:rPr lang="en-GB" sz="900" b="1" i="0" kern="1200" dirty="0">
                <a:solidFill>
                  <a:schemeClr val="tx1"/>
                </a:solidFill>
                <a:effectLst/>
                <a:latin typeface="+mn-lt"/>
                <a:ea typeface="+mn-ea"/>
                <a:cs typeface="+mn-cs"/>
              </a:rPr>
              <a:t>increase or decrease in output</a:t>
            </a:r>
            <a:r>
              <a:rPr lang="en-GB" sz="900" b="0" i="0" kern="1200" dirty="0">
                <a:solidFill>
                  <a:schemeClr val="tx1"/>
                </a:solidFill>
                <a:effectLst/>
                <a:latin typeface="+mn-lt"/>
                <a:ea typeface="+mn-ea"/>
                <a:cs typeface="+mn-cs"/>
              </a:rPr>
              <a:t>, meaning cost is analysed when one more unit is produced or one unit is reduced. In such cases, it is assumed that </a:t>
            </a:r>
            <a:r>
              <a:rPr lang="en-GB" sz="900" b="1" i="0" kern="1200" dirty="0">
                <a:solidFill>
                  <a:schemeClr val="tx1"/>
                </a:solidFill>
                <a:effectLst/>
                <a:latin typeface="+mn-lt"/>
                <a:ea typeface="+mn-ea"/>
                <a:cs typeface="+mn-cs"/>
              </a:rPr>
              <a:t>variable cost per unit remains constant</a:t>
            </a:r>
            <a:r>
              <a:rPr lang="en-GB" sz="900" b="0" i="0" kern="1200" dirty="0">
                <a:solidFill>
                  <a:schemeClr val="tx1"/>
                </a:solidFill>
                <a:effectLst/>
                <a:latin typeface="+mn-lt"/>
                <a:ea typeface="+mn-ea"/>
                <a:cs typeface="+mn-cs"/>
              </a:rPr>
              <a:t>, ensuring that cost changes occur uniformly for each additional unit. Therefore, the calculation depends on </a:t>
            </a:r>
            <a:r>
              <a:rPr lang="en-GB" sz="900" b="1" i="0" kern="1200" dirty="0">
                <a:solidFill>
                  <a:schemeClr val="tx1"/>
                </a:solidFill>
                <a:effectLst/>
                <a:latin typeface="+mn-lt"/>
                <a:ea typeface="+mn-ea"/>
                <a:cs typeface="+mn-cs"/>
              </a:rPr>
              <a:t>difference giving marginal cost</a:t>
            </a:r>
            <a:r>
              <a:rPr lang="en-GB" sz="900" b="0" i="0" kern="1200" dirty="0">
                <a:solidFill>
                  <a:schemeClr val="tx1"/>
                </a:solidFill>
                <a:effectLst/>
                <a:latin typeface="+mn-lt"/>
                <a:ea typeface="+mn-ea"/>
                <a:cs typeface="+mn-cs"/>
              </a:rPr>
              <a:t>, where the increase or decrease in total cost represents the marginal cost. For example, if total cost changes from ₹12,000 to ₹12,010, the marginal cost is ₹10. Overall, this concept helps in understanding cost behaviour and supports decision-making in production planning.</a:t>
            </a:r>
          </a:p>
        </p:txBody>
      </p:sp>
      <p:sp>
        <p:nvSpPr>
          <p:cNvPr id="4" name="Slide Number Placeholder 3">
            <a:extLst>
              <a:ext uri="{FF2B5EF4-FFF2-40B4-BE49-F238E27FC236}">
                <a16:creationId xmlns:a16="http://schemas.microsoft.com/office/drawing/2014/main" id="{0B155378-CC2B-09B9-2156-F6B947C81957}"/>
              </a:ext>
            </a:extLst>
          </p:cNvPr>
          <p:cNvSpPr>
            <a:spLocks noGrp="1"/>
          </p:cNvSpPr>
          <p:nvPr>
            <p:ph type="sldNum" sz="quarter" idx="5"/>
          </p:nvPr>
        </p:nvSpPr>
        <p:spPr/>
        <p:txBody>
          <a:bodyPr/>
          <a:lstStyle/>
          <a:p>
            <a:fld id="{8825E8DC-296A-4EB7-8515-D32CBB342896}" type="slidenum">
              <a:rPr lang="en-IN" smtClean="0"/>
              <a:t>8</a:t>
            </a:fld>
            <a:endParaRPr lang="en-IN"/>
          </a:p>
        </p:txBody>
      </p:sp>
    </p:spTree>
    <p:extLst>
      <p:ext uri="{BB962C8B-B14F-4D97-AF65-F5344CB8AC3E}">
        <p14:creationId xmlns:p14="http://schemas.microsoft.com/office/powerpoint/2010/main" val="2276821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EEFE0-0456-22C5-A1F5-DD263F47E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8CE31-2F14-0B72-609D-DAF4133B51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336D08-1F31-0419-DF3B-61A6A2D8D2D9}"/>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The </a:t>
            </a:r>
            <a:r>
              <a:rPr lang="en-GB" sz="900" b="1" i="0" kern="1200" dirty="0">
                <a:solidFill>
                  <a:schemeClr val="tx1"/>
                </a:solidFill>
                <a:effectLst/>
                <a:latin typeface="+mn-lt"/>
                <a:ea typeface="+mn-ea"/>
                <a:cs typeface="+mn-cs"/>
              </a:rPr>
              <a:t>marginal cost</a:t>
            </a:r>
            <a:r>
              <a:rPr lang="en-GB" sz="900" b="0" i="0" kern="1200" dirty="0">
                <a:solidFill>
                  <a:schemeClr val="tx1"/>
                </a:solidFill>
                <a:effectLst/>
                <a:latin typeface="+mn-lt"/>
                <a:ea typeface="+mn-ea"/>
                <a:cs typeface="+mn-cs"/>
              </a:rPr>
              <a:t> refers to </a:t>
            </a:r>
            <a:r>
              <a:rPr lang="en-GB" sz="900" b="1" i="0" kern="1200" dirty="0">
                <a:solidFill>
                  <a:schemeClr val="tx1"/>
                </a:solidFill>
                <a:effectLst/>
                <a:latin typeface="+mn-lt"/>
                <a:ea typeface="+mn-ea"/>
                <a:cs typeface="+mn-cs"/>
              </a:rPr>
              <a:t>the cost of producing one additional unit</a:t>
            </a:r>
            <a:r>
              <a:rPr lang="en-GB" sz="900" b="0" i="0" kern="1200" dirty="0">
                <a:solidFill>
                  <a:schemeClr val="tx1"/>
                </a:solidFill>
                <a:effectLst/>
                <a:latin typeface="+mn-lt"/>
                <a:ea typeface="+mn-ea"/>
                <a:cs typeface="+mn-cs"/>
              </a:rPr>
              <a:t>, helping in understanding how total cost changes with a slight increase in output. It focuses only on the extra cost incurred and is useful for decision-making.</a:t>
            </a:r>
          </a:p>
          <a:p>
            <a:pPr fontAlgn="t"/>
            <a:r>
              <a:rPr lang="en-GB" sz="900" b="0" i="0" kern="1200" dirty="0">
                <a:solidFill>
                  <a:schemeClr val="tx1"/>
                </a:solidFill>
                <a:effectLst/>
                <a:latin typeface="+mn-lt"/>
                <a:ea typeface="+mn-ea"/>
                <a:cs typeface="+mn-cs"/>
              </a:rPr>
              <a:t>In the example, </a:t>
            </a:r>
            <a:r>
              <a:rPr lang="en-GB" sz="900" b="1" i="0" kern="1200" dirty="0">
                <a:solidFill>
                  <a:schemeClr val="tx1"/>
                </a:solidFill>
                <a:effectLst/>
                <a:latin typeface="+mn-lt"/>
                <a:ea typeface="+mn-ea"/>
                <a:cs typeface="+mn-cs"/>
              </a:rPr>
              <a:t>800 units cost ₹12,000</a:t>
            </a:r>
            <a:r>
              <a:rPr lang="en-GB" sz="900" b="0" i="0" kern="1200" dirty="0">
                <a:solidFill>
                  <a:schemeClr val="tx1"/>
                </a:solidFill>
                <a:effectLst/>
                <a:latin typeface="+mn-lt"/>
                <a:ea typeface="+mn-ea"/>
                <a:cs typeface="+mn-cs"/>
              </a:rPr>
              <a:t>, representing the total cost at a certain production level. When production increases to </a:t>
            </a:r>
            <a:r>
              <a:rPr lang="en-GB" sz="900" b="1" i="0" kern="1200" dirty="0">
                <a:solidFill>
                  <a:schemeClr val="tx1"/>
                </a:solidFill>
                <a:effectLst/>
                <a:latin typeface="+mn-lt"/>
                <a:ea typeface="+mn-ea"/>
                <a:cs typeface="+mn-cs"/>
              </a:rPr>
              <a:t>801 units costing ₹12,010</a:t>
            </a:r>
            <a:r>
              <a:rPr lang="en-GB" sz="900" b="0" i="0" kern="1200" dirty="0">
                <a:solidFill>
                  <a:schemeClr val="tx1"/>
                </a:solidFill>
                <a:effectLst/>
                <a:latin typeface="+mn-lt"/>
                <a:ea typeface="+mn-ea"/>
                <a:cs typeface="+mn-cs"/>
              </a:rPr>
              <a:t>, there is a small increase in total cost. The </a:t>
            </a:r>
            <a:r>
              <a:rPr lang="en-GB" sz="900" b="1" i="0" kern="1200" dirty="0">
                <a:solidFill>
                  <a:schemeClr val="tx1"/>
                </a:solidFill>
                <a:effectLst/>
                <a:latin typeface="+mn-lt"/>
                <a:ea typeface="+mn-ea"/>
                <a:cs typeface="+mn-cs"/>
              </a:rPr>
              <a:t>marginal cost is calculated by subtracting ₹12,000 from ₹12,010</a:t>
            </a:r>
            <a:r>
              <a:rPr lang="en-GB" sz="900" b="0" i="0" kern="1200" dirty="0">
                <a:solidFill>
                  <a:schemeClr val="tx1"/>
                </a:solidFill>
                <a:effectLst/>
                <a:latin typeface="+mn-lt"/>
                <a:ea typeface="+mn-ea"/>
                <a:cs typeface="+mn-cs"/>
              </a:rPr>
              <a:t>, which gives ₹10.</a:t>
            </a:r>
          </a:p>
          <a:p>
            <a:pPr fontAlgn="t"/>
            <a:r>
              <a:rPr lang="en-GB" sz="900" b="0" i="0" kern="1200" dirty="0">
                <a:solidFill>
                  <a:schemeClr val="tx1"/>
                </a:solidFill>
                <a:effectLst/>
                <a:latin typeface="+mn-lt"/>
                <a:ea typeface="+mn-ea"/>
                <a:cs typeface="+mn-cs"/>
              </a:rPr>
              <a:t>This shows that producing one additional unit results in an extra cost of ₹10. The concept clearly highlights the </a:t>
            </a:r>
            <a:r>
              <a:rPr lang="en-GB" sz="900" b="1" i="0" kern="1200" dirty="0">
                <a:solidFill>
                  <a:schemeClr val="tx1"/>
                </a:solidFill>
                <a:effectLst/>
                <a:latin typeface="+mn-lt"/>
                <a:ea typeface="+mn-ea"/>
                <a:cs typeface="+mn-cs"/>
              </a:rPr>
              <a:t>change in total cost for one extra unit</a:t>
            </a:r>
            <a:r>
              <a:rPr lang="en-GB" sz="900" b="0" i="0" kern="1200" dirty="0">
                <a:solidFill>
                  <a:schemeClr val="tx1"/>
                </a:solidFill>
                <a:effectLst/>
                <a:latin typeface="+mn-lt"/>
                <a:ea typeface="+mn-ea"/>
                <a:cs typeface="+mn-cs"/>
              </a:rPr>
              <a:t>, making it useful for pricing, production decisions, and cost control.</a:t>
            </a:r>
          </a:p>
          <a:p>
            <a:pPr fontAlgn="t"/>
            <a:r>
              <a:rPr lang="en-GB" sz="900" b="0" i="0" kern="1200" dirty="0">
                <a:solidFill>
                  <a:schemeClr val="tx1"/>
                </a:solidFill>
                <a:effectLst/>
                <a:latin typeface="+mn-lt"/>
                <a:ea typeface="+mn-ea"/>
                <a:cs typeface="+mn-cs"/>
              </a:rPr>
              <a:t>Together, marginal cost helps businesses evaluate whether increasing output is beneficial and supports better planning by focusing on cost variations linked to production changes.</a:t>
            </a:r>
          </a:p>
          <a:p>
            <a:pPr marL="0" indent="0" algn="l">
              <a:buNone/>
            </a:pPr>
            <a:endParaRPr lang="en-GB" b="0" dirty="0"/>
          </a:p>
        </p:txBody>
      </p:sp>
      <p:sp>
        <p:nvSpPr>
          <p:cNvPr id="4" name="Slide Number Placeholder 3">
            <a:extLst>
              <a:ext uri="{FF2B5EF4-FFF2-40B4-BE49-F238E27FC236}">
                <a16:creationId xmlns:a16="http://schemas.microsoft.com/office/drawing/2014/main" id="{6C9A2FE9-FA64-E2A3-C748-DEAB43D827D8}"/>
              </a:ext>
            </a:extLst>
          </p:cNvPr>
          <p:cNvSpPr>
            <a:spLocks noGrp="1"/>
          </p:cNvSpPr>
          <p:nvPr>
            <p:ph type="sldNum" sz="quarter" idx="5"/>
          </p:nvPr>
        </p:nvSpPr>
        <p:spPr/>
        <p:txBody>
          <a:bodyPr/>
          <a:lstStyle/>
          <a:p>
            <a:fld id="{8825E8DC-296A-4EB7-8515-D32CBB342896}" type="slidenum">
              <a:rPr lang="en-IN" smtClean="0"/>
              <a:t>9</a:t>
            </a:fld>
            <a:endParaRPr lang="en-IN"/>
          </a:p>
        </p:txBody>
      </p:sp>
    </p:spTree>
    <p:extLst>
      <p:ext uri="{BB962C8B-B14F-4D97-AF65-F5344CB8AC3E}">
        <p14:creationId xmlns:p14="http://schemas.microsoft.com/office/powerpoint/2010/main" val="3821260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48E14-8393-D3A4-5B04-549A0F224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EE472B-A863-5FA1-63F9-2E07FE1194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43B455-94FF-A574-BCA8-D77AD350F242}"/>
              </a:ext>
            </a:extLst>
          </p:cNvPr>
          <p:cNvSpPr>
            <a:spLocks noGrp="1"/>
          </p:cNvSpPr>
          <p:nvPr>
            <p:ph type="body" idx="1"/>
          </p:nvPr>
        </p:nvSpPr>
        <p:spPr/>
        <p: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US" sz="900" kern="1200" dirty="0">
                <a:solidFill>
                  <a:schemeClr val="tx1"/>
                </a:solidFill>
                <a:effectLst/>
                <a:latin typeface="+mn-lt"/>
                <a:ea typeface="+mn-ea"/>
                <a:cs typeface="+mn-cs"/>
              </a:rPr>
              <a:t>Acc. To ICMA, “Marginal cost is the amount at any given volume of output by which aggregate costs are changes if the volume of output is increased or decreased by one unit.”</a:t>
            </a:r>
            <a:endParaRPr lang="en-GB" sz="900" kern="1200" dirty="0">
              <a:solidFill>
                <a:schemeClr val="tx1"/>
              </a:solidFill>
              <a:effectLst/>
              <a:latin typeface="+mn-lt"/>
              <a:ea typeface="+mn-ea"/>
              <a:cs typeface="+mn-cs"/>
            </a:endParaRPr>
          </a:p>
          <a:p>
            <a:pPr fontAlgn="t"/>
            <a:r>
              <a:rPr lang="en-GB" sz="900" b="0" i="0" kern="1200" dirty="0">
                <a:solidFill>
                  <a:schemeClr val="tx1"/>
                </a:solidFill>
                <a:effectLst/>
                <a:latin typeface="+mn-lt"/>
                <a:ea typeface="+mn-ea"/>
                <a:cs typeface="+mn-cs"/>
              </a:rPr>
              <a:t>The </a:t>
            </a:r>
            <a:r>
              <a:rPr lang="en-GB" sz="900" b="1" i="0" kern="1200" dirty="0">
                <a:solidFill>
                  <a:schemeClr val="tx1"/>
                </a:solidFill>
                <a:effectLst/>
                <a:latin typeface="+mn-lt"/>
                <a:ea typeface="+mn-ea"/>
                <a:cs typeface="+mn-cs"/>
              </a:rPr>
              <a:t>accountant’s concept of marginal cost</a:t>
            </a:r>
            <a:r>
              <a:rPr lang="en-GB" sz="900" b="0" i="0" kern="1200" dirty="0">
                <a:solidFill>
                  <a:schemeClr val="tx1"/>
                </a:solidFill>
                <a:effectLst/>
                <a:latin typeface="+mn-lt"/>
                <a:ea typeface="+mn-ea"/>
                <a:cs typeface="+mn-cs"/>
              </a:rPr>
              <a:t> defines it as </a:t>
            </a:r>
            <a:r>
              <a:rPr lang="en-GB" sz="900" b="1" i="0" kern="1200" dirty="0">
                <a:solidFill>
                  <a:schemeClr val="tx1"/>
                </a:solidFill>
                <a:effectLst/>
                <a:latin typeface="+mn-lt"/>
                <a:ea typeface="+mn-ea"/>
                <a:cs typeface="+mn-cs"/>
              </a:rPr>
              <a:t>only the variable cost of producing a unit</a:t>
            </a:r>
            <a:r>
              <a:rPr lang="en-GB" sz="900" b="0" i="0" kern="1200" dirty="0">
                <a:solidFill>
                  <a:schemeClr val="tx1"/>
                </a:solidFill>
                <a:effectLst/>
                <a:latin typeface="+mn-lt"/>
                <a:ea typeface="+mn-ea"/>
                <a:cs typeface="+mn-cs"/>
              </a:rPr>
              <a:t>, excluding all fixed costs. This means marginal cost includes only those costs that change with production.</a:t>
            </a:r>
          </a:p>
          <a:p>
            <a:pPr fontAlgn="t"/>
            <a:r>
              <a:rPr lang="en-GB" sz="900" b="0" i="0" kern="1200" dirty="0">
                <a:solidFill>
                  <a:schemeClr val="tx1"/>
                </a:solidFill>
                <a:effectLst/>
                <a:latin typeface="+mn-lt"/>
                <a:ea typeface="+mn-ea"/>
                <a:cs typeface="+mn-cs"/>
              </a:rPr>
              <a:t>It can be expressed using clear formulae. The first formula shows that </a:t>
            </a:r>
            <a:r>
              <a:rPr lang="en-GB" sz="900" b="1" i="0" kern="1200" dirty="0">
                <a:solidFill>
                  <a:schemeClr val="tx1"/>
                </a:solidFill>
                <a:effectLst/>
                <a:latin typeface="+mn-lt"/>
                <a:ea typeface="+mn-ea"/>
                <a:cs typeface="+mn-cs"/>
              </a:rPr>
              <a:t>marginal cost is calculated as prime cost plus variable overheads</a:t>
            </a:r>
            <a:r>
              <a:rPr lang="en-GB" sz="900" b="0" i="0" kern="1200" dirty="0">
                <a:solidFill>
                  <a:schemeClr val="tx1"/>
                </a:solidFill>
                <a:effectLst/>
                <a:latin typeface="+mn-lt"/>
                <a:ea typeface="+mn-ea"/>
                <a:cs typeface="+mn-cs"/>
              </a:rPr>
              <a:t>, where prime cost consists of direct costs related to production.</a:t>
            </a:r>
          </a:p>
          <a:p>
            <a:pPr fontAlgn="t"/>
            <a:r>
              <a:rPr lang="en-GB" sz="900" b="0" i="0" kern="1200" dirty="0">
                <a:solidFill>
                  <a:schemeClr val="tx1"/>
                </a:solidFill>
                <a:effectLst/>
                <a:latin typeface="+mn-lt"/>
                <a:ea typeface="+mn-ea"/>
                <a:cs typeface="+mn-cs"/>
              </a:rPr>
              <a:t>Another detailed formula explains that </a:t>
            </a:r>
            <a:r>
              <a:rPr lang="en-GB" sz="900" b="1" i="0" kern="1200" dirty="0">
                <a:solidFill>
                  <a:schemeClr val="tx1"/>
                </a:solidFill>
                <a:effectLst/>
                <a:latin typeface="+mn-lt"/>
                <a:ea typeface="+mn-ea"/>
                <a:cs typeface="+mn-cs"/>
              </a:rPr>
              <a:t>marginal cost equals direct material, direct labour, direct expenses, and variable overheads</a:t>
            </a:r>
            <a:r>
              <a:rPr lang="en-GB" sz="900" b="0" i="0" kern="1200" dirty="0">
                <a:solidFill>
                  <a:schemeClr val="tx1"/>
                </a:solidFill>
                <a:effectLst/>
                <a:latin typeface="+mn-lt"/>
                <a:ea typeface="+mn-ea"/>
                <a:cs typeface="+mn-cs"/>
              </a:rPr>
              <a:t>, ensuring that all variable components are included in the calculation.</a:t>
            </a:r>
          </a:p>
          <a:p>
            <a:pPr fontAlgn="t"/>
            <a:r>
              <a:rPr lang="en-GB" sz="900" b="0" i="0" kern="1200" dirty="0">
                <a:solidFill>
                  <a:schemeClr val="tx1"/>
                </a:solidFill>
                <a:effectLst/>
                <a:latin typeface="+mn-lt"/>
                <a:ea typeface="+mn-ea"/>
                <a:cs typeface="+mn-cs"/>
              </a:rPr>
              <a:t>These formulae highlight that fixed costs are not part of marginal cost, as they do not change with output</a:t>
            </a:r>
          </a:p>
          <a:p>
            <a:pPr fontAlgn="t"/>
            <a:endParaRPr lang="en-GB" sz="900" b="0" i="0" kern="1200" dirty="0">
              <a:solidFill>
                <a:schemeClr val="tx1"/>
              </a:solidFill>
              <a:effectLst/>
              <a:latin typeface="+mn-lt"/>
              <a:ea typeface="+mn-ea"/>
              <a:cs typeface="+mn-cs"/>
            </a:endParaRPr>
          </a:p>
          <a:p>
            <a:pPr marL="0" indent="0" algn="l">
              <a:buNone/>
            </a:pPr>
            <a:endParaRPr lang="en-GB" b="0" dirty="0"/>
          </a:p>
        </p:txBody>
      </p:sp>
      <p:sp>
        <p:nvSpPr>
          <p:cNvPr id="4" name="Slide Number Placeholder 3">
            <a:extLst>
              <a:ext uri="{FF2B5EF4-FFF2-40B4-BE49-F238E27FC236}">
                <a16:creationId xmlns:a16="http://schemas.microsoft.com/office/drawing/2014/main" id="{7598AF80-671D-CF81-22F2-941FA6ECD40D}"/>
              </a:ext>
            </a:extLst>
          </p:cNvPr>
          <p:cNvSpPr>
            <a:spLocks noGrp="1"/>
          </p:cNvSpPr>
          <p:nvPr>
            <p:ph type="sldNum" sz="quarter" idx="5"/>
          </p:nvPr>
        </p:nvSpPr>
        <p:spPr/>
        <p:txBody>
          <a:bodyPr/>
          <a:lstStyle/>
          <a:p>
            <a:fld id="{8825E8DC-296A-4EB7-8515-D32CBB342896}" type="slidenum">
              <a:rPr lang="en-IN" smtClean="0"/>
              <a:t>10</a:t>
            </a:fld>
            <a:endParaRPr lang="en-IN"/>
          </a:p>
        </p:txBody>
      </p:sp>
    </p:spTree>
    <p:extLst>
      <p:ext uri="{BB962C8B-B14F-4D97-AF65-F5344CB8AC3E}">
        <p14:creationId xmlns:p14="http://schemas.microsoft.com/office/powerpoint/2010/main" val="343302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30443-1501-5FA1-D08B-D09547B735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8F69B-E3EE-5147-83DD-669DB010D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0B44E-58A1-7617-9D3F-E65C09093D15}"/>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In marginal costing, the concept of volume of production helps in identifying the most profitable level of output for a business. It plays an important role in </a:t>
            </a:r>
            <a:r>
              <a:rPr lang="en-GB" sz="900" b="1" i="0" kern="1200" dirty="0">
                <a:solidFill>
                  <a:schemeClr val="tx1"/>
                </a:solidFill>
                <a:effectLst/>
                <a:latin typeface="+mn-lt"/>
                <a:ea typeface="+mn-ea"/>
                <a:cs typeface="+mn-cs"/>
              </a:rPr>
              <a:t>helping maximise production capacity</a:t>
            </a:r>
            <a:r>
              <a:rPr lang="en-GB" sz="900" b="0" i="0" kern="1200" dirty="0">
                <a:solidFill>
                  <a:schemeClr val="tx1"/>
                </a:solidFill>
                <a:effectLst/>
                <a:latin typeface="+mn-lt"/>
                <a:ea typeface="+mn-ea"/>
                <a:cs typeface="+mn-cs"/>
              </a:rPr>
              <a:t>, ensuring that available resources are used efficiently without underutilisation. The method also focuses on </a:t>
            </a:r>
            <a:r>
              <a:rPr lang="en-GB" sz="900" b="1" i="0" kern="1200" dirty="0">
                <a:solidFill>
                  <a:schemeClr val="tx1"/>
                </a:solidFill>
                <a:effectLst/>
                <a:latin typeface="+mn-lt"/>
                <a:ea typeface="+mn-ea"/>
                <a:cs typeface="+mn-cs"/>
              </a:rPr>
              <a:t>analysing cost, price, and volume relation</a:t>
            </a:r>
            <a:r>
              <a:rPr lang="en-GB" sz="900" b="0" i="0" kern="1200" dirty="0">
                <a:solidFill>
                  <a:schemeClr val="tx1"/>
                </a:solidFill>
                <a:effectLst/>
                <a:latin typeface="+mn-lt"/>
                <a:ea typeface="+mn-ea"/>
                <a:cs typeface="+mn-cs"/>
              </a:rPr>
              <a:t>, where the interaction between these elements is carefully studied to understand their impact on profitability. Based on this analysis, it contributes to </a:t>
            </a:r>
            <a:r>
              <a:rPr lang="en-GB" sz="900" b="1" i="0" kern="1200" dirty="0">
                <a:solidFill>
                  <a:schemeClr val="tx1"/>
                </a:solidFill>
                <a:effectLst/>
                <a:latin typeface="+mn-lt"/>
                <a:ea typeface="+mn-ea"/>
                <a:cs typeface="+mn-cs"/>
              </a:rPr>
              <a:t>supporting pricing decisions</a:t>
            </a:r>
            <a:r>
              <a:rPr lang="en-GB" sz="900" b="0" i="0" kern="1200" dirty="0">
                <a:solidFill>
                  <a:schemeClr val="tx1"/>
                </a:solidFill>
                <a:effectLst/>
                <a:latin typeface="+mn-lt"/>
                <a:ea typeface="+mn-ea"/>
                <a:cs typeface="+mn-cs"/>
              </a:rPr>
              <a:t>, allowing management to fix selling prices that cover costs and ensure desired profits. Additionally, it helps in </a:t>
            </a:r>
            <a:r>
              <a:rPr lang="en-GB" sz="900" b="1" i="0" kern="1200" dirty="0">
                <a:solidFill>
                  <a:schemeClr val="tx1"/>
                </a:solidFill>
                <a:effectLst/>
                <a:latin typeface="+mn-lt"/>
                <a:ea typeface="+mn-ea"/>
                <a:cs typeface="+mn-cs"/>
              </a:rPr>
              <a:t>aiding profit optimisation</a:t>
            </a:r>
            <a:r>
              <a:rPr lang="en-GB" sz="900" b="0" i="0" kern="1200" dirty="0">
                <a:solidFill>
                  <a:schemeClr val="tx1"/>
                </a:solidFill>
                <a:effectLst/>
                <a:latin typeface="+mn-lt"/>
                <a:ea typeface="+mn-ea"/>
                <a:cs typeface="+mn-cs"/>
              </a:rPr>
              <a:t>, as businesses can select an output level that yields maximum returns. Overall, marginal costing provides a clear framework for evaluating how changes in production affect costs and revenues, helping organisations make effective decisions, improve efficiency, and maintain profitability in competitive business environments consistently over time.</a:t>
            </a:r>
          </a:p>
        </p:txBody>
      </p:sp>
      <p:sp>
        <p:nvSpPr>
          <p:cNvPr id="4" name="Slide Number Placeholder 3">
            <a:extLst>
              <a:ext uri="{FF2B5EF4-FFF2-40B4-BE49-F238E27FC236}">
                <a16:creationId xmlns:a16="http://schemas.microsoft.com/office/drawing/2014/main" id="{E0EAF3F1-7122-2FAD-1EE5-30148D5FC1DF}"/>
              </a:ext>
            </a:extLst>
          </p:cNvPr>
          <p:cNvSpPr>
            <a:spLocks noGrp="1"/>
          </p:cNvSpPr>
          <p:nvPr>
            <p:ph type="sldNum" sz="quarter" idx="5"/>
          </p:nvPr>
        </p:nvSpPr>
        <p:spPr/>
        <p:txBody>
          <a:bodyPr/>
          <a:lstStyle/>
          <a:p>
            <a:fld id="{8825E8DC-296A-4EB7-8515-D32CBB342896}" type="slidenum">
              <a:rPr lang="en-IN" smtClean="0"/>
              <a:t>11</a:t>
            </a:fld>
            <a:endParaRPr lang="en-IN"/>
          </a:p>
        </p:txBody>
      </p:sp>
    </p:spTree>
    <p:extLst>
      <p:ext uri="{BB962C8B-B14F-4D97-AF65-F5344CB8AC3E}">
        <p14:creationId xmlns:p14="http://schemas.microsoft.com/office/powerpoint/2010/main" val="191122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5FE2C-691A-EB80-FF91-3D4579B077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B5AD9-ACC5-5E12-DD4A-2BB8F2FDF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01A35F-6548-CC28-6926-4EA19FABA404}"/>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In marginal costing, the concept of selecting product lines focuses on choosing the most profitable set of products for a business. It plays an important role in </a:t>
            </a:r>
            <a:r>
              <a:rPr lang="en-GB" sz="900" b="1" i="0" kern="1200" dirty="0">
                <a:solidFill>
                  <a:schemeClr val="tx1"/>
                </a:solidFill>
                <a:effectLst/>
                <a:latin typeface="+mn-lt"/>
                <a:ea typeface="+mn-ea"/>
                <a:cs typeface="+mn-cs"/>
              </a:rPr>
              <a:t>helping select profitable product lines</a:t>
            </a:r>
            <a:r>
              <a:rPr lang="en-GB" sz="900" b="0" i="0" kern="1200" dirty="0">
                <a:solidFill>
                  <a:schemeClr val="tx1"/>
                </a:solidFill>
                <a:effectLst/>
                <a:latin typeface="+mn-lt"/>
                <a:ea typeface="+mn-ea"/>
                <a:cs typeface="+mn-cs"/>
              </a:rPr>
              <a:t>, by identifying which products contribute more to overall profit. This involves </a:t>
            </a:r>
            <a:r>
              <a:rPr lang="en-GB" sz="900" b="1" i="0" kern="1200" dirty="0">
                <a:solidFill>
                  <a:schemeClr val="tx1"/>
                </a:solidFill>
                <a:effectLst/>
                <a:latin typeface="+mn-lt"/>
                <a:ea typeface="+mn-ea"/>
                <a:cs typeface="+mn-cs"/>
              </a:rPr>
              <a:t>comparing product profitability levels</a:t>
            </a:r>
            <a:r>
              <a:rPr lang="en-GB" sz="900" b="0" i="0" kern="1200" dirty="0">
                <a:solidFill>
                  <a:schemeClr val="tx1"/>
                </a:solidFill>
                <a:effectLst/>
                <a:latin typeface="+mn-lt"/>
                <a:ea typeface="+mn-ea"/>
                <a:cs typeface="+mn-cs"/>
              </a:rPr>
              <a:t>, where the performance of different products is analysed using cost and revenue data. The method mainly works by </a:t>
            </a:r>
            <a:r>
              <a:rPr lang="en-GB" sz="900" b="1" i="0" kern="1200" dirty="0">
                <a:solidFill>
                  <a:schemeClr val="tx1"/>
                </a:solidFill>
                <a:effectLst/>
                <a:latin typeface="+mn-lt"/>
                <a:ea typeface="+mn-ea"/>
                <a:cs typeface="+mn-cs"/>
              </a:rPr>
              <a:t>focusing on contribution analysis</a:t>
            </a:r>
            <a:r>
              <a:rPr lang="en-GB" sz="900" b="0" i="0" kern="1200" dirty="0">
                <a:solidFill>
                  <a:schemeClr val="tx1"/>
                </a:solidFill>
                <a:effectLst/>
                <a:latin typeface="+mn-lt"/>
                <a:ea typeface="+mn-ea"/>
                <a:cs typeface="+mn-cs"/>
              </a:rPr>
              <a:t>, where the difference between selling price and variable cost is evaluated for each product. Based on this analysis, management can take decisions for </a:t>
            </a:r>
            <a:r>
              <a:rPr lang="en-GB" sz="900" b="1" i="0" kern="1200" dirty="0">
                <a:solidFill>
                  <a:schemeClr val="tx1"/>
                </a:solidFill>
                <a:effectLst/>
                <a:latin typeface="+mn-lt"/>
                <a:ea typeface="+mn-ea"/>
                <a:cs typeface="+mn-cs"/>
              </a:rPr>
              <a:t>eliminating less profitable products</a:t>
            </a:r>
            <a:r>
              <a:rPr lang="en-GB" sz="900" b="0" i="0" kern="1200" dirty="0">
                <a:solidFill>
                  <a:schemeClr val="tx1"/>
                </a:solidFill>
                <a:effectLst/>
                <a:latin typeface="+mn-lt"/>
                <a:ea typeface="+mn-ea"/>
                <a:cs typeface="+mn-cs"/>
              </a:rPr>
              <a:t>, which do not contribute significantly to earnings. It also helps in </a:t>
            </a:r>
            <a:r>
              <a:rPr lang="en-GB" sz="900" b="1" i="0" kern="1200" dirty="0">
                <a:solidFill>
                  <a:schemeClr val="tx1"/>
                </a:solidFill>
                <a:effectLst/>
                <a:latin typeface="+mn-lt"/>
                <a:ea typeface="+mn-ea"/>
                <a:cs typeface="+mn-cs"/>
              </a:rPr>
              <a:t>supporting product mix decisions</a:t>
            </a:r>
            <a:r>
              <a:rPr lang="en-GB" sz="900" b="0" i="0" kern="1200" dirty="0">
                <a:solidFill>
                  <a:schemeClr val="tx1"/>
                </a:solidFill>
                <a:effectLst/>
                <a:latin typeface="+mn-lt"/>
                <a:ea typeface="+mn-ea"/>
                <a:cs typeface="+mn-cs"/>
              </a:rPr>
              <a:t>, allowing the business to prioritise production of high-profit products. Overall, marginal costing ensures efficient allocation of resources, improves profitability, and helps organisations make better strategic decisions regarding their product portfolio consistently over time.</a:t>
            </a:r>
          </a:p>
          <a:p>
            <a:pPr marL="0" indent="0" algn="l">
              <a:buNone/>
            </a:pPr>
            <a:endParaRPr lang="en-GB" b="0" dirty="0"/>
          </a:p>
        </p:txBody>
      </p:sp>
      <p:sp>
        <p:nvSpPr>
          <p:cNvPr id="4" name="Slide Number Placeholder 3">
            <a:extLst>
              <a:ext uri="{FF2B5EF4-FFF2-40B4-BE49-F238E27FC236}">
                <a16:creationId xmlns:a16="http://schemas.microsoft.com/office/drawing/2014/main" id="{A1F5E5F2-9777-A8FC-3DB3-DDEDFF1CB4B9}"/>
              </a:ext>
            </a:extLst>
          </p:cNvPr>
          <p:cNvSpPr>
            <a:spLocks noGrp="1"/>
          </p:cNvSpPr>
          <p:nvPr>
            <p:ph type="sldNum" sz="quarter" idx="5"/>
          </p:nvPr>
        </p:nvSpPr>
        <p:spPr/>
        <p:txBody>
          <a:bodyPr/>
          <a:lstStyle/>
          <a:p>
            <a:fld id="{8825E8DC-296A-4EB7-8515-D32CBB342896}" type="slidenum">
              <a:rPr lang="en-IN" smtClean="0"/>
              <a:t>12</a:t>
            </a:fld>
            <a:endParaRPr lang="en-IN"/>
          </a:p>
        </p:txBody>
      </p:sp>
    </p:spTree>
    <p:extLst>
      <p:ext uri="{BB962C8B-B14F-4D97-AF65-F5344CB8AC3E}">
        <p14:creationId xmlns:p14="http://schemas.microsoft.com/office/powerpoint/2010/main" val="2035703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EFE87-0525-053F-8156-0FFD9A5411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FAA10-C17D-572F-3FC2-F292C5295E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18541-98CA-D1EF-71E0-2C4095281A63}"/>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In marginal costing, the concept of produce or procure decisions focuses on choosing whether to manufacture internally or purchase externally. It plays an important role in </a:t>
            </a:r>
            <a:r>
              <a:rPr lang="en-GB" sz="900" b="1" i="0" kern="1200" dirty="0">
                <a:solidFill>
                  <a:schemeClr val="tx1"/>
                </a:solidFill>
                <a:effectLst/>
                <a:latin typeface="+mn-lt"/>
                <a:ea typeface="+mn-ea"/>
                <a:cs typeface="+mn-cs"/>
              </a:rPr>
              <a:t>helping compare internal production costs</a:t>
            </a:r>
            <a:r>
              <a:rPr lang="en-GB" sz="900" b="0" i="0" kern="1200" dirty="0">
                <a:solidFill>
                  <a:schemeClr val="tx1"/>
                </a:solidFill>
                <a:effectLst/>
                <a:latin typeface="+mn-lt"/>
                <a:ea typeface="+mn-ea"/>
                <a:cs typeface="+mn-cs"/>
              </a:rPr>
              <a:t>, where marginal cost of making the product is evaluated carefully. At the same time, it involves </a:t>
            </a:r>
            <a:r>
              <a:rPr lang="en-GB" sz="900" b="1" i="0" kern="1200" dirty="0">
                <a:solidFill>
                  <a:schemeClr val="tx1"/>
                </a:solidFill>
                <a:effectLst/>
                <a:latin typeface="+mn-lt"/>
                <a:ea typeface="+mn-ea"/>
                <a:cs typeface="+mn-cs"/>
              </a:rPr>
              <a:t>considering external purchase price</a:t>
            </a:r>
            <a:r>
              <a:rPr lang="en-GB" sz="900" b="0" i="0" kern="1200" dirty="0">
                <a:solidFill>
                  <a:schemeClr val="tx1"/>
                </a:solidFill>
                <a:effectLst/>
                <a:latin typeface="+mn-lt"/>
                <a:ea typeface="+mn-ea"/>
                <a:cs typeface="+mn-cs"/>
              </a:rPr>
              <a:t>, where the cost quoted by suppliers is analysed. The decision depends on </a:t>
            </a:r>
            <a:r>
              <a:rPr lang="en-GB" sz="900" b="1" i="0" kern="1200" dirty="0">
                <a:solidFill>
                  <a:schemeClr val="tx1"/>
                </a:solidFill>
                <a:effectLst/>
                <a:latin typeface="+mn-lt"/>
                <a:ea typeface="+mn-ea"/>
                <a:cs typeface="+mn-cs"/>
              </a:rPr>
              <a:t>choosing the lower cost alternative</a:t>
            </a:r>
            <a:r>
              <a:rPr lang="en-GB" sz="900" b="0" i="0" kern="1200" dirty="0">
                <a:solidFill>
                  <a:schemeClr val="tx1"/>
                </a:solidFill>
                <a:effectLst/>
                <a:latin typeface="+mn-lt"/>
                <a:ea typeface="+mn-ea"/>
                <a:cs typeface="+mn-cs"/>
              </a:rPr>
              <a:t>, meaning management selects the option with lesser cost. If the purchase price is lower than the marginal cost, the firm should procure from outside, otherwise production is preferred. This approach also supports </a:t>
            </a:r>
            <a:r>
              <a:rPr lang="en-GB" sz="900" b="1" i="0" kern="1200" dirty="0">
                <a:solidFill>
                  <a:schemeClr val="tx1"/>
                </a:solidFill>
                <a:effectLst/>
                <a:latin typeface="+mn-lt"/>
                <a:ea typeface="+mn-ea"/>
                <a:cs typeface="+mn-cs"/>
              </a:rPr>
              <a:t>evaluating marginal cost of production</a:t>
            </a:r>
            <a:r>
              <a:rPr lang="en-GB" sz="900" b="0" i="0" kern="1200" dirty="0">
                <a:solidFill>
                  <a:schemeClr val="tx1"/>
                </a:solidFill>
                <a:effectLst/>
                <a:latin typeface="+mn-lt"/>
                <a:ea typeface="+mn-ea"/>
                <a:cs typeface="+mn-cs"/>
              </a:rPr>
              <a:t>, ensuring accurate comparison between options. Overall, this method helps in </a:t>
            </a:r>
            <a:r>
              <a:rPr lang="en-GB" sz="900" b="1" i="0" kern="1200" dirty="0">
                <a:solidFill>
                  <a:schemeClr val="tx1"/>
                </a:solidFill>
                <a:effectLst/>
                <a:latin typeface="+mn-lt"/>
                <a:ea typeface="+mn-ea"/>
                <a:cs typeface="+mn-cs"/>
              </a:rPr>
              <a:t>supporting sourcing decisions</a:t>
            </a:r>
            <a:r>
              <a:rPr lang="en-GB" sz="900" b="0" i="0" kern="1200" dirty="0">
                <a:solidFill>
                  <a:schemeClr val="tx1"/>
                </a:solidFill>
                <a:effectLst/>
                <a:latin typeface="+mn-lt"/>
                <a:ea typeface="+mn-ea"/>
                <a:cs typeface="+mn-cs"/>
              </a:rPr>
              <a:t>, improving efficiency, reducing unnecessary costs, and ensuring profitability for determining optimal sourcing decisions across changing market conditions and ensuring long term operational efficiency within the organisation.</a:t>
            </a:r>
          </a:p>
          <a:p>
            <a:pPr marL="0" indent="0" algn="l">
              <a:buNone/>
            </a:pPr>
            <a:endParaRPr lang="en-GB" b="0" dirty="0"/>
          </a:p>
        </p:txBody>
      </p:sp>
      <p:sp>
        <p:nvSpPr>
          <p:cNvPr id="4" name="Slide Number Placeholder 3">
            <a:extLst>
              <a:ext uri="{FF2B5EF4-FFF2-40B4-BE49-F238E27FC236}">
                <a16:creationId xmlns:a16="http://schemas.microsoft.com/office/drawing/2014/main" id="{9CEBFDC5-EDB9-C63E-EF16-CC321FB706E7}"/>
              </a:ext>
            </a:extLst>
          </p:cNvPr>
          <p:cNvSpPr>
            <a:spLocks noGrp="1"/>
          </p:cNvSpPr>
          <p:nvPr>
            <p:ph type="sldNum" sz="quarter" idx="5"/>
          </p:nvPr>
        </p:nvSpPr>
        <p:spPr/>
        <p:txBody>
          <a:bodyPr/>
          <a:lstStyle/>
          <a:p>
            <a:fld id="{8825E8DC-296A-4EB7-8515-D32CBB342896}" type="slidenum">
              <a:rPr lang="en-IN" smtClean="0"/>
              <a:t>13</a:t>
            </a:fld>
            <a:endParaRPr lang="en-IN"/>
          </a:p>
        </p:txBody>
      </p:sp>
    </p:spTree>
    <p:extLst>
      <p:ext uri="{BB962C8B-B14F-4D97-AF65-F5344CB8AC3E}">
        <p14:creationId xmlns:p14="http://schemas.microsoft.com/office/powerpoint/2010/main" val="31068105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3D1A2-A922-13D4-8314-B1423BA7BB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63516-2597-969F-828D-13227BC6F7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433A8-5FB2-4770-95FA-D91D2889E7D3}"/>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In marginal costing, the </a:t>
            </a:r>
            <a:r>
              <a:rPr lang="en-GB" sz="900" b="1" i="0" kern="1200" dirty="0">
                <a:solidFill>
                  <a:schemeClr val="tx1"/>
                </a:solidFill>
                <a:effectLst/>
                <a:latin typeface="+mn-lt"/>
                <a:ea typeface="+mn-ea"/>
                <a:cs typeface="+mn-cs"/>
              </a:rPr>
              <a:t>method of manufacturing decision involves choosing between different production methods</a:t>
            </a:r>
            <a:r>
              <a:rPr lang="en-GB" sz="900" b="0" i="0" kern="1200" dirty="0">
                <a:solidFill>
                  <a:schemeClr val="tx1"/>
                </a:solidFill>
                <a:effectLst/>
                <a:latin typeface="+mn-lt"/>
                <a:ea typeface="+mn-ea"/>
                <a:cs typeface="+mn-cs"/>
              </a:rPr>
              <a:t>, where a product can be produced using more than one technique. This requires </a:t>
            </a:r>
            <a:r>
              <a:rPr lang="en-GB" sz="900" b="1" i="0" kern="1200" dirty="0">
                <a:solidFill>
                  <a:schemeClr val="tx1"/>
                </a:solidFill>
                <a:effectLst/>
                <a:latin typeface="+mn-lt"/>
                <a:ea typeface="+mn-ea"/>
                <a:cs typeface="+mn-cs"/>
              </a:rPr>
              <a:t>comparing marginal cost of different methods</a:t>
            </a:r>
            <a:r>
              <a:rPr lang="en-GB" sz="900" b="0" i="0" kern="1200" dirty="0">
                <a:solidFill>
                  <a:schemeClr val="tx1"/>
                </a:solidFill>
                <a:effectLst/>
                <a:latin typeface="+mn-lt"/>
                <a:ea typeface="+mn-ea"/>
                <a:cs typeface="+mn-cs"/>
              </a:rPr>
              <a:t>, ensuring that each method’s cost is carefully evaluated. The analysis helps in </a:t>
            </a:r>
            <a:r>
              <a:rPr lang="en-GB" sz="900" b="1" i="0" kern="1200" dirty="0">
                <a:solidFill>
                  <a:schemeClr val="tx1"/>
                </a:solidFill>
                <a:effectLst/>
                <a:latin typeface="+mn-lt"/>
                <a:ea typeface="+mn-ea"/>
                <a:cs typeface="+mn-cs"/>
              </a:rPr>
              <a:t>identifying cost differences clearly</a:t>
            </a:r>
            <a:r>
              <a:rPr lang="en-GB" sz="900" b="0" i="0" kern="1200" dirty="0">
                <a:solidFill>
                  <a:schemeClr val="tx1"/>
                </a:solidFill>
                <a:effectLst/>
                <a:latin typeface="+mn-lt"/>
                <a:ea typeface="+mn-ea"/>
                <a:cs typeface="+mn-cs"/>
              </a:rPr>
              <a:t>, showing how each method affects total cost and efficiency. Based on this comparison, management focuses on </a:t>
            </a:r>
            <a:r>
              <a:rPr lang="en-GB" sz="900" b="1" i="0" kern="1200" dirty="0">
                <a:solidFill>
                  <a:schemeClr val="tx1"/>
                </a:solidFill>
                <a:effectLst/>
                <a:latin typeface="+mn-lt"/>
                <a:ea typeface="+mn-ea"/>
                <a:cs typeface="+mn-cs"/>
              </a:rPr>
              <a:t>selecting the most economical method</a:t>
            </a:r>
            <a:r>
              <a:rPr lang="en-GB" sz="900" b="0" i="0" kern="1200" dirty="0">
                <a:solidFill>
                  <a:schemeClr val="tx1"/>
                </a:solidFill>
                <a:effectLst/>
                <a:latin typeface="+mn-lt"/>
                <a:ea typeface="+mn-ea"/>
                <a:cs typeface="+mn-cs"/>
              </a:rPr>
              <a:t>, choosing the option that results in the lowest marginal cost while maintaining quality. This approach plays a key role in </a:t>
            </a:r>
            <a:r>
              <a:rPr lang="en-GB" sz="900" b="1" i="0" kern="1200" dirty="0">
                <a:solidFill>
                  <a:schemeClr val="tx1"/>
                </a:solidFill>
                <a:effectLst/>
                <a:latin typeface="+mn-lt"/>
                <a:ea typeface="+mn-ea"/>
                <a:cs typeface="+mn-cs"/>
              </a:rPr>
              <a:t>supporting efficient production decisions</a:t>
            </a:r>
            <a:r>
              <a:rPr lang="en-GB" sz="900" b="0" i="0" kern="1200" dirty="0">
                <a:solidFill>
                  <a:schemeClr val="tx1"/>
                </a:solidFill>
                <a:effectLst/>
                <a:latin typeface="+mn-lt"/>
                <a:ea typeface="+mn-ea"/>
                <a:cs typeface="+mn-cs"/>
              </a:rPr>
              <a:t>, as it ensures that resources are used in the best possible way. Overall, marginal costing helps organisations evaluate alternative manufacturing processes, reduce unnecessary expenses, and improve profitability by adopting the most cost-effective production method in different operational situations consistently over time.</a:t>
            </a:r>
          </a:p>
          <a:p>
            <a:pPr marL="0" indent="0" algn="l">
              <a:buNone/>
            </a:pPr>
            <a:endParaRPr lang="en-GB" b="0" dirty="0"/>
          </a:p>
        </p:txBody>
      </p:sp>
      <p:sp>
        <p:nvSpPr>
          <p:cNvPr id="4" name="Slide Number Placeholder 3">
            <a:extLst>
              <a:ext uri="{FF2B5EF4-FFF2-40B4-BE49-F238E27FC236}">
                <a16:creationId xmlns:a16="http://schemas.microsoft.com/office/drawing/2014/main" id="{861A734C-EB63-936F-2F38-495DAF595FB3}"/>
              </a:ext>
            </a:extLst>
          </p:cNvPr>
          <p:cNvSpPr>
            <a:spLocks noGrp="1"/>
          </p:cNvSpPr>
          <p:nvPr>
            <p:ph type="sldNum" sz="quarter" idx="5"/>
          </p:nvPr>
        </p:nvSpPr>
        <p:spPr/>
        <p:txBody>
          <a:bodyPr/>
          <a:lstStyle/>
          <a:p>
            <a:fld id="{8825E8DC-296A-4EB7-8515-D32CBB342896}" type="slidenum">
              <a:rPr lang="en-IN" smtClean="0"/>
              <a:t>14</a:t>
            </a:fld>
            <a:endParaRPr lang="en-IN"/>
          </a:p>
        </p:txBody>
      </p:sp>
    </p:spTree>
    <p:extLst>
      <p:ext uri="{BB962C8B-B14F-4D97-AF65-F5344CB8AC3E}">
        <p14:creationId xmlns:p14="http://schemas.microsoft.com/office/powerpoint/2010/main" val="543327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7BAC3-FBDA-D15C-6679-8A4DEF96A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453B1-27DA-5A3D-26A6-0DFDE14A4A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917879-EF4E-BCB2-E8D8-C8870CE85FD2}"/>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The </a:t>
            </a:r>
            <a:r>
              <a:rPr lang="en-GB" sz="900" b="1" i="0" kern="1200" dirty="0">
                <a:solidFill>
                  <a:schemeClr val="tx1"/>
                </a:solidFill>
                <a:effectLst/>
                <a:latin typeface="+mn-lt"/>
                <a:ea typeface="+mn-ea"/>
                <a:cs typeface="+mn-cs"/>
              </a:rPr>
              <a:t>shut down or continue decision </a:t>
            </a:r>
            <a:r>
              <a:rPr lang="en-GB" sz="900" b="0" i="0" kern="1200" dirty="0">
                <a:solidFill>
                  <a:schemeClr val="tx1"/>
                </a:solidFill>
                <a:effectLst/>
                <a:latin typeface="+mn-lt"/>
                <a:ea typeface="+mn-ea"/>
                <a:cs typeface="+mn-cs"/>
              </a:rPr>
              <a:t>In marginal costing</a:t>
            </a:r>
            <a:r>
              <a:rPr lang="en-GB" sz="900" b="1" i="0" kern="1200" dirty="0">
                <a:solidFill>
                  <a:schemeClr val="tx1"/>
                </a:solidFill>
                <a:effectLst/>
                <a:latin typeface="+mn-lt"/>
                <a:ea typeface="+mn-ea"/>
                <a:cs typeface="+mn-cs"/>
              </a:rPr>
              <a:t> helps in deciding whether production should go on or stop temporarily</a:t>
            </a:r>
            <a:r>
              <a:rPr lang="en-GB" sz="900" b="0" i="0" kern="1200" dirty="0">
                <a:solidFill>
                  <a:schemeClr val="tx1"/>
                </a:solidFill>
                <a:effectLst/>
                <a:latin typeface="+mn-lt"/>
                <a:ea typeface="+mn-ea"/>
                <a:cs typeface="+mn-cs"/>
              </a:rPr>
              <a:t>, especially during difficult market conditions. This becomes important as it is </a:t>
            </a:r>
            <a:r>
              <a:rPr lang="en-GB" sz="900" b="1" i="0" kern="1200" dirty="0">
                <a:solidFill>
                  <a:schemeClr val="tx1"/>
                </a:solidFill>
                <a:effectLst/>
                <a:latin typeface="+mn-lt"/>
                <a:ea typeface="+mn-ea"/>
                <a:cs typeface="+mn-cs"/>
              </a:rPr>
              <a:t>useful during low demand periods</a:t>
            </a:r>
            <a:r>
              <a:rPr lang="en-GB" sz="900" b="0" i="0" kern="1200" dirty="0">
                <a:solidFill>
                  <a:schemeClr val="tx1"/>
                </a:solidFill>
                <a:effectLst/>
                <a:latin typeface="+mn-lt"/>
                <a:ea typeface="+mn-ea"/>
                <a:cs typeface="+mn-cs"/>
              </a:rPr>
              <a:t>, such as times of economic depression when sales are reduced. The decision is based on </a:t>
            </a:r>
            <a:r>
              <a:rPr lang="en-GB" sz="900" b="1" i="0" kern="1200" dirty="0">
                <a:solidFill>
                  <a:schemeClr val="tx1"/>
                </a:solidFill>
                <a:effectLst/>
                <a:latin typeface="+mn-lt"/>
                <a:ea typeface="+mn-ea"/>
                <a:cs typeface="+mn-cs"/>
              </a:rPr>
              <a:t>comparing contribution with fixed cost</a:t>
            </a:r>
            <a:r>
              <a:rPr lang="en-GB" sz="900" b="0" i="0" kern="1200" dirty="0">
                <a:solidFill>
                  <a:schemeClr val="tx1"/>
                </a:solidFill>
                <a:effectLst/>
                <a:latin typeface="+mn-lt"/>
                <a:ea typeface="+mn-ea"/>
                <a:cs typeface="+mn-cs"/>
              </a:rPr>
              <a:t>, where the contribution from sales is analysed to see whether it can at least cover fixed expenses. If production is stopped, fixed costs will still continue, which is why it helps in </a:t>
            </a:r>
            <a:r>
              <a:rPr lang="en-GB" sz="900" b="1" i="0" kern="1200" dirty="0">
                <a:solidFill>
                  <a:schemeClr val="tx1"/>
                </a:solidFill>
                <a:effectLst/>
                <a:latin typeface="+mn-lt"/>
                <a:ea typeface="+mn-ea"/>
                <a:cs typeface="+mn-cs"/>
              </a:rPr>
              <a:t>avoiding unnecessary shutdown losses</a:t>
            </a:r>
            <a:r>
              <a:rPr lang="en-GB" sz="900" b="0" i="0" kern="1200" dirty="0">
                <a:solidFill>
                  <a:schemeClr val="tx1"/>
                </a:solidFill>
                <a:effectLst/>
                <a:latin typeface="+mn-lt"/>
                <a:ea typeface="+mn-ea"/>
                <a:cs typeface="+mn-cs"/>
              </a:rPr>
              <a:t>, as continuing operations may reduce overall losses. This approach plays a role in </a:t>
            </a:r>
            <a:r>
              <a:rPr lang="en-GB" sz="900" b="1" i="0" kern="1200" dirty="0">
                <a:solidFill>
                  <a:schemeClr val="tx1"/>
                </a:solidFill>
                <a:effectLst/>
                <a:latin typeface="+mn-lt"/>
                <a:ea typeface="+mn-ea"/>
                <a:cs typeface="+mn-cs"/>
              </a:rPr>
              <a:t>supporting short term decision making</a:t>
            </a:r>
            <a:r>
              <a:rPr lang="en-GB" sz="900" b="0" i="0" kern="1200" dirty="0">
                <a:solidFill>
                  <a:schemeClr val="tx1"/>
                </a:solidFill>
                <a:effectLst/>
                <a:latin typeface="+mn-lt"/>
                <a:ea typeface="+mn-ea"/>
                <a:cs typeface="+mn-cs"/>
              </a:rPr>
              <a:t>, by focusing only on relevant costs and revenues. Overall, marginal costing provides a clear basis for evaluating such situations, helping management decide the most practical and loss-minimising option effectively.</a:t>
            </a:r>
          </a:p>
          <a:p>
            <a:pPr marL="0" indent="0" algn="l">
              <a:buNone/>
            </a:pPr>
            <a:endParaRPr lang="en-GB" b="0" dirty="0"/>
          </a:p>
        </p:txBody>
      </p:sp>
      <p:sp>
        <p:nvSpPr>
          <p:cNvPr id="4" name="Slide Number Placeholder 3">
            <a:extLst>
              <a:ext uri="{FF2B5EF4-FFF2-40B4-BE49-F238E27FC236}">
                <a16:creationId xmlns:a16="http://schemas.microsoft.com/office/drawing/2014/main" id="{20BF23DA-A61D-A246-B828-1DBF916DE866}"/>
              </a:ext>
            </a:extLst>
          </p:cNvPr>
          <p:cNvSpPr>
            <a:spLocks noGrp="1"/>
          </p:cNvSpPr>
          <p:nvPr>
            <p:ph type="sldNum" sz="quarter" idx="5"/>
          </p:nvPr>
        </p:nvSpPr>
        <p:spPr/>
        <p:txBody>
          <a:bodyPr/>
          <a:lstStyle/>
          <a:p>
            <a:fld id="{8825E8DC-296A-4EB7-8515-D32CBB342896}" type="slidenum">
              <a:rPr lang="en-IN" smtClean="0"/>
              <a:t>15</a:t>
            </a:fld>
            <a:endParaRPr lang="en-IN"/>
          </a:p>
        </p:txBody>
      </p:sp>
    </p:spTree>
    <p:extLst>
      <p:ext uri="{BB962C8B-B14F-4D97-AF65-F5344CB8AC3E}">
        <p14:creationId xmlns:p14="http://schemas.microsoft.com/office/powerpoint/2010/main" val="3303559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C68FF-7878-2336-010E-C699A5ADBB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6DC2D-1C38-16B6-AAEF-2CE2013AED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C14BB0-4588-6D19-C1AA-1C815865FFAE}"/>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The </a:t>
            </a:r>
            <a:r>
              <a:rPr lang="en-GB" sz="900" b="1" i="0" kern="1200" dirty="0">
                <a:solidFill>
                  <a:schemeClr val="tx1"/>
                </a:solidFill>
                <a:effectLst/>
                <a:latin typeface="+mn-lt"/>
                <a:ea typeface="+mn-ea"/>
                <a:cs typeface="+mn-cs"/>
              </a:rPr>
              <a:t>marginal costing technique supports managerial decision making</a:t>
            </a:r>
            <a:r>
              <a:rPr lang="en-GB" sz="900" b="0" i="0" kern="1200" dirty="0">
                <a:solidFill>
                  <a:schemeClr val="tx1"/>
                </a:solidFill>
                <a:effectLst/>
                <a:latin typeface="+mn-lt"/>
                <a:ea typeface="+mn-ea"/>
                <a:cs typeface="+mn-cs"/>
              </a:rPr>
              <a:t> by providing clear insights into costs and revenues. It mainly works by focusing on contribution analysis, where the difference between sales and variable costs helps in evaluating profitability. Another important aspect is </a:t>
            </a:r>
            <a:r>
              <a:rPr lang="en-GB" sz="900" b="1" i="0" kern="1200" dirty="0">
                <a:solidFill>
                  <a:schemeClr val="tx1"/>
                </a:solidFill>
                <a:effectLst/>
                <a:latin typeface="+mn-lt"/>
                <a:ea typeface="+mn-ea"/>
                <a:cs typeface="+mn-cs"/>
              </a:rPr>
              <a:t>considering cost behaviour patterns</a:t>
            </a:r>
            <a:r>
              <a:rPr lang="en-GB" sz="900" b="0" i="0" kern="1200" dirty="0">
                <a:solidFill>
                  <a:schemeClr val="tx1"/>
                </a:solidFill>
                <a:effectLst/>
                <a:latin typeface="+mn-lt"/>
                <a:ea typeface="+mn-ea"/>
                <a:cs typeface="+mn-cs"/>
              </a:rPr>
              <a:t>, where costs are classified based on their relationship with output levels. This approach helps managers understand how changes in production affect overall profit. It further assists in </a:t>
            </a:r>
            <a:r>
              <a:rPr lang="en-GB" sz="900" b="1" i="0" kern="1200" dirty="0">
                <a:solidFill>
                  <a:schemeClr val="tx1"/>
                </a:solidFill>
                <a:effectLst/>
                <a:latin typeface="+mn-lt"/>
                <a:ea typeface="+mn-ea"/>
                <a:cs typeface="+mn-cs"/>
              </a:rPr>
              <a:t>aiding key business decisions</a:t>
            </a:r>
            <a:r>
              <a:rPr lang="en-GB" sz="900" b="0" i="0" kern="1200" dirty="0">
                <a:solidFill>
                  <a:schemeClr val="tx1"/>
                </a:solidFill>
                <a:effectLst/>
                <a:latin typeface="+mn-lt"/>
                <a:ea typeface="+mn-ea"/>
                <a:cs typeface="+mn-cs"/>
              </a:rPr>
              <a:t>, such as determining output levels, selecting product mix, make-or-buy choices, choosing production methods, and deciding whether to continue or shut down operations. These decisions are based on relevant cost information rather than total cost figures. Ultimately, marginal costing helps in </a:t>
            </a:r>
            <a:r>
              <a:rPr lang="en-GB" sz="900" b="1" i="0" kern="1200" dirty="0">
                <a:solidFill>
                  <a:schemeClr val="tx1"/>
                </a:solidFill>
                <a:effectLst/>
                <a:latin typeface="+mn-lt"/>
                <a:ea typeface="+mn-ea"/>
                <a:cs typeface="+mn-cs"/>
              </a:rPr>
              <a:t>ensuring profitability in challenging situations</a:t>
            </a:r>
            <a:r>
              <a:rPr lang="en-GB" sz="900" b="0" i="0" kern="1200" dirty="0">
                <a:solidFill>
                  <a:schemeClr val="tx1"/>
                </a:solidFill>
                <a:effectLst/>
                <a:latin typeface="+mn-lt"/>
                <a:ea typeface="+mn-ea"/>
                <a:cs typeface="+mn-cs"/>
              </a:rPr>
              <a:t>, enabling businesses to operate efficiently even under adverse market conditions. Overall, the technique provides a practical basis for effective planning, control, and decision-making.</a:t>
            </a:r>
          </a:p>
          <a:p>
            <a:pPr marL="0" indent="0" algn="l">
              <a:buNone/>
            </a:pPr>
            <a:endParaRPr lang="en-GB" b="0" dirty="0"/>
          </a:p>
        </p:txBody>
      </p:sp>
      <p:sp>
        <p:nvSpPr>
          <p:cNvPr id="4" name="Slide Number Placeholder 3">
            <a:extLst>
              <a:ext uri="{FF2B5EF4-FFF2-40B4-BE49-F238E27FC236}">
                <a16:creationId xmlns:a16="http://schemas.microsoft.com/office/drawing/2014/main" id="{45347E79-6103-96FE-5A80-BE782A0C990C}"/>
              </a:ext>
            </a:extLst>
          </p:cNvPr>
          <p:cNvSpPr>
            <a:spLocks noGrp="1"/>
          </p:cNvSpPr>
          <p:nvPr>
            <p:ph type="sldNum" sz="quarter" idx="5"/>
          </p:nvPr>
        </p:nvSpPr>
        <p:spPr/>
        <p:txBody>
          <a:bodyPr/>
          <a:lstStyle/>
          <a:p>
            <a:fld id="{8825E8DC-296A-4EB7-8515-D32CBB342896}" type="slidenum">
              <a:rPr lang="en-IN" smtClean="0"/>
              <a:t>16</a:t>
            </a:fld>
            <a:endParaRPr lang="en-IN"/>
          </a:p>
        </p:txBody>
      </p:sp>
    </p:spTree>
    <p:extLst>
      <p:ext uri="{BB962C8B-B14F-4D97-AF65-F5344CB8AC3E}">
        <p14:creationId xmlns:p14="http://schemas.microsoft.com/office/powerpoint/2010/main" val="1432097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C664D-F5EB-81AB-905B-E972010DF5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BC2DA-708C-1BD1-1981-C970000CAF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2FADF2-9725-9C44-4DA9-E4A47850A262}"/>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The income statement under marginal costing follows a structured format to show contribution and profit clearly. It begins with </a:t>
            </a:r>
            <a:r>
              <a:rPr lang="en-GB" sz="900" b="1" i="0" kern="1200" dirty="0">
                <a:solidFill>
                  <a:schemeClr val="tx1"/>
                </a:solidFill>
                <a:effectLst/>
                <a:latin typeface="+mn-lt"/>
                <a:ea typeface="+mn-ea"/>
                <a:cs typeface="+mn-cs"/>
              </a:rPr>
              <a:t>sales representing the total revenue earned from the product</a:t>
            </a:r>
            <a:r>
              <a:rPr lang="en-GB" sz="900" b="0" i="0" kern="1200" dirty="0">
                <a:solidFill>
                  <a:schemeClr val="tx1"/>
                </a:solidFill>
                <a:effectLst/>
                <a:latin typeface="+mn-lt"/>
                <a:ea typeface="+mn-ea"/>
                <a:cs typeface="+mn-cs"/>
              </a:rPr>
              <a:t>, forming the starting point of the statement.</a:t>
            </a:r>
          </a:p>
          <a:p>
            <a:pPr fontAlgn="t"/>
            <a:r>
              <a:rPr lang="en-GB" sz="900" b="0" i="0" kern="1200" dirty="0">
                <a:solidFill>
                  <a:schemeClr val="tx1"/>
                </a:solidFill>
                <a:effectLst/>
                <a:latin typeface="+mn-lt"/>
                <a:ea typeface="+mn-ea"/>
                <a:cs typeface="+mn-cs"/>
              </a:rPr>
              <a:t>From this, </a:t>
            </a:r>
            <a:r>
              <a:rPr lang="en-GB" sz="900" b="1" i="0" kern="1200" dirty="0">
                <a:solidFill>
                  <a:schemeClr val="tx1"/>
                </a:solidFill>
                <a:effectLst/>
                <a:latin typeface="+mn-lt"/>
                <a:ea typeface="+mn-ea"/>
                <a:cs typeface="+mn-cs"/>
              </a:rPr>
              <a:t>variable costs are deducted</a:t>
            </a:r>
            <a:r>
              <a:rPr lang="en-GB" sz="900" b="0" i="0" kern="1200" dirty="0">
                <a:solidFill>
                  <a:schemeClr val="tx1"/>
                </a:solidFill>
                <a:effectLst/>
                <a:latin typeface="+mn-lt"/>
                <a:ea typeface="+mn-ea"/>
                <a:cs typeface="+mn-cs"/>
              </a:rPr>
              <a:t>, which include all costs that change with production, such as materials, labour, and variable overheads. The result after this deduction is </a:t>
            </a:r>
            <a:r>
              <a:rPr lang="en-GB" sz="900" b="1" i="0" kern="1200" dirty="0">
                <a:solidFill>
                  <a:schemeClr val="tx1"/>
                </a:solidFill>
                <a:effectLst/>
                <a:latin typeface="+mn-lt"/>
                <a:ea typeface="+mn-ea"/>
                <a:cs typeface="+mn-cs"/>
              </a:rPr>
              <a:t>contribution</a:t>
            </a:r>
            <a:r>
              <a:rPr lang="en-GB" sz="900" b="0" i="0" kern="1200" dirty="0">
                <a:solidFill>
                  <a:schemeClr val="tx1"/>
                </a:solidFill>
                <a:effectLst/>
                <a:latin typeface="+mn-lt"/>
                <a:ea typeface="+mn-ea"/>
                <a:cs typeface="+mn-cs"/>
              </a:rPr>
              <a:t>, which indicates how much is available to cover fixed costs and generate profit.</a:t>
            </a:r>
          </a:p>
          <a:p>
            <a:pPr fontAlgn="t"/>
            <a:r>
              <a:rPr lang="en-GB" sz="900" b="0" i="0" kern="1200" dirty="0">
                <a:solidFill>
                  <a:schemeClr val="tx1"/>
                </a:solidFill>
                <a:effectLst/>
                <a:latin typeface="+mn-lt"/>
                <a:ea typeface="+mn-ea"/>
                <a:cs typeface="+mn-cs"/>
              </a:rPr>
              <a:t>Next, </a:t>
            </a:r>
            <a:r>
              <a:rPr lang="en-GB" sz="900" b="1" i="0" kern="1200" dirty="0">
                <a:solidFill>
                  <a:schemeClr val="tx1"/>
                </a:solidFill>
                <a:effectLst/>
                <a:latin typeface="+mn-lt"/>
                <a:ea typeface="+mn-ea"/>
                <a:cs typeface="+mn-cs"/>
              </a:rPr>
              <a:t>fixed costs are deducted from contribution</a:t>
            </a:r>
            <a:r>
              <a:rPr lang="en-GB" sz="900" b="0" i="0" kern="1200" dirty="0">
                <a:solidFill>
                  <a:schemeClr val="tx1"/>
                </a:solidFill>
                <a:effectLst/>
                <a:latin typeface="+mn-lt"/>
                <a:ea typeface="+mn-ea"/>
                <a:cs typeface="+mn-cs"/>
              </a:rPr>
              <a:t>, as these costs remain constant regardless of production levels. This step helps determine the final profitability.</a:t>
            </a:r>
          </a:p>
          <a:p>
            <a:pPr fontAlgn="t"/>
            <a:r>
              <a:rPr lang="en-GB" sz="900" b="0" i="0" kern="1200" dirty="0">
                <a:solidFill>
                  <a:schemeClr val="tx1"/>
                </a:solidFill>
                <a:effectLst/>
                <a:latin typeface="+mn-lt"/>
                <a:ea typeface="+mn-ea"/>
                <a:cs typeface="+mn-cs"/>
              </a:rPr>
              <a:t>The final figure is </a:t>
            </a:r>
            <a:r>
              <a:rPr lang="en-GB" sz="900" b="1" i="0" kern="1200" dirty="0">
                <a:solidFill>
                  <a:schemeClr val="tx1"/>
                </a:solidFill>
                <a:effectLst/>
                <a:latin typeface="+mn-lt"/>
                <a:ea typeface="+mn-ea"/>
                <a:cs typeface="+mn-cs"/>
              </a:rPr>
              <a:t>profit, which represents the remaining amount after all costs are covered</a:t>
            </a:r>
            <a:r>
              <a:rPr lang="en-GB" sz="900" b="0" i="0" kern="1200" dirty="0">
                <a:solidFill>
                  <a:schemeClr val="tx1"/>
                </a:solidFill>
                <a:effectLst/>
                <a:latin typeface="+mn-lt"/>
                <a:ea typeface="+mn-ea"/>
                <a:cs typeface="+mn-cs"/>
              </a:rPr>
              <a:t>, showing the financial performance of the product.</a:t>
            </a:r>
          </a:p>
          <a:p>
            <a:pPr fontAlgn="t"/>
            <a:r>
              <a:rPr lang="en-GB" sz="900" b="0" i="0" kern="1200" dirty="0">
                <a:solidFill>
                  <a:schemeClr val="tx1"/>
                </a:solidFill>
                <a:effectLst/>
                <a:latin typeface="+mn-lt"/>
                <a:ea typeface="+mn-ea"/>
                <a:cs typeface="+mn-cs"/>
              </a:rPr>
              <a:t>Together, this format highlights the importance of contribution in marginal costing, helping management analyse cost behaviour, control expenses, and support better decision-making in pricing and production.</a:t>
            </a:r>
          </a:p>
          <a:p>
            <a:pPr marL="0" indent="0" algn="l">
              <a:buNone/>
            </a:pPr>
            <a:endParaRPr lang="en-GB" b="0" dirty="0"/>
          </a:p>
        </p:txBody>
      </p:sp>
      <p:sp>
        <p:nvSpPr>
          <p:cNvPr id="4" name="Slide Number Placeholder 3">
            <a:extLst>
              <a:ext uri="{FF2B5EF4-FFF2-40B4-BE49-F238E27FC236}">
                <a16:creationId xmlns:a16="http://schemas.microsoft.com/office/drawing/2014/main" id="{ABD125AD-B1EA-5BC5-058D-0D5085689634}"/>
              </a:ext>
            </a:extLst>
          </p:cNvPr>
          <p:cNvSpPr>
            <a:spLocks noGrp="1"/>
          </p:cNvSpPr>
          <p:nvPr>
            <p:ph type="sldNum" sz="quarter" idx="5"/>
          </p:nvPr>
        </p:nvSpPr>
        <p:spPr/>
        <p:txBody>
          <a:bodyPr/>
          <a:lstStyle/>
          <a:p>
            <a:fld id="{8825E8DC-296A-4EB7-8515-D32CBB342896}" type="slidenum">
              <a:rPr lang="en-IN" smtClean="0"/>
              <a:t>17</a:t>
            </a:fld>
            <a:endParaRPr lang="en-IN"/>
          </a:p>
        </p:txBody>
      </p:sp>
    </p:spTree>
    <p:extLst>
      <p:ext uri="{BB962C8B-B14F-4D97-AF65-F5344CB8AC3E}">
        <p14:creationId xmlns:p14="http://schemas.microsoft.com/office/powerpoint/2010/main" val="15417081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A9E25-7165-1689-D83D-6EC0E633D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053E70-7D29-7ADD-2F0A-2E527E14B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23D7E-5F52-EF9B-3632-7E53C24784EF}"/>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Let us consider an example of marginal costing where </a:t>
            </a:r>
            <a:r>
              <a:rPr lang="en-GB" sz="900" b="1" i="0" kern="1200" dirty="0">
                <a:solidFill>
                  <a:schemeClr val="tx1"/>
                </a:solidFill>
                <a:effectLst/>
                <a:latin typeface="+mn-lt"/>
                <a:ea typeface="+mn-ea"/>
                <a:cs typeface="+mn-cs"/>
              </a:rPr>
              <a:t>sales amount to ₹1,00,000</a:t>
            </a:r>
            <a:r>
              <a:rPr lang="en-GB" sz="900" b="0" i="0" kern="1200" dirty="0">
                <a:solidFill>
                  <a:schemeClr val="tx1"/>
                </a:solidFill>
                <a:effectLst/>
                <a:latin typeface="+mn-lt"/>
                <a:ea typeface="+mn-ea"/>
                <a:cs typeface="+mn-cs"/>
              </a:rPr>
              <a:t>, representing the total revenue earned from the product. From this, the </a:t>
            </a:r>
            <a:r>
              <a:rPr lang="en-GB" sz="900" b="1" i="0" kern="1200" dirty="0">
                <a:solidFill>
                  <a:schemeClr val="tx1"/>
                </a:solidFill>
                <a:effectLst/>
                <a:latin typeface="+mn-lt"/>
                <a:ea typeface="+mn-ea"/>
                <a:cs typeface="+mn-cs"/>
              </a:rPr>
              <a:t>variable cost of ₹60,000 is deducted</a:t>
            </a:r>
            <a:r>
              <a:rPr lang="en-GB" sz="900" b="0" i="0" kern="1200" dirty="0">
                <a:solidFill>
                  <a:schemeClr val="tx1"/>
                </a:solidFill>
                <a:effectLst/>
                <a:latin typeface="+mn-lt"/>
                <a:ea typeface="+mn-ea"/>
                <a:cs typeface="+mn-cs"/>
              </a:rPr>
              <a:t>, which includes costs that vary with production.</a:t>
            </a:r>
          </a:p>
          <a:p>
            <a:pPr fontAlgn="t"/>
            <a:r>
              <a:rPr lang="en-GB" sz="900" b="0" i="0" kern="1200" dirty="0">
                <a:solidFill>
                  <a:schemeClr val="tx1"/>
                </a:solidFill>
                <a:effectLst/>
                <a:latin typeface="+mn-lt"/>
                <a:ea typeface="+mn-ea"/>
                <a:cs typeface="+mn-cs"/>
              </a:rPr>
              <a:t>The </a:t>
            </a:r>
            <a:r>
              <a:rPr lang="en-GB" sz="900" b="1" i="0" kern="1200" dirty="0">
                <a:solidFill>
                  <a:schemeClr val="tx1"/>
                </a:solidFill>
                <a:effectLst/>
                <a:latin typeface="+mn-lt"/>
                <a:ea typeface="+mn-ea"/>
                <a:cs typeface="+mn-cs"/>
              </a:rPr>
              <a:t>contribution is calculated as ₹1,00,000 minus ₹60,000</a:t>
            </a:r>
            <a:r>
              <a:rPr lang="en-GB" sz="900" b="0" i="0" kern="1200" dirty="0">
                <a:solidFill>
                  <a:schemeClr val="tx1"/>
                </a:solidFill>
                <a:effectLst/>
                <a:latin typeface="+mn-lt"/>
                <a:ea typeface="+mn-ea"/>
                <a:cs typeface="+mn-cs"/>
              </a:rPr>
              <a:t>, resulting in ₹40,000. This shows the amount available to cover fixed costs and generate profit.</a:t>
            </a:r>
          </a:p>
          <a:p>
            <a:pPr fontAlgn="t"/>
            <a:r>
              <a:rPr lang="en-GB" sz="900" b="0" i="0" kern="1200" dirty="0">
                <a:solidFill>
                  <a:schemeClr val="tx1"/>
                </a:solidFill>
                <a:effectLst/>
                <a:latin typeface="+mn-lt"/>
                <a:ea typeface="+mn-ea"/>
                <a:cs typeface="+mn-cs"/>
              </a:rPr>
              <a:t>Next, </a:t>
            </a:r>
            <a:r>
              <a:rPr lang="en-GB" sz="900" b="1" i="0" kern="1200" dirty="0">
                <a:solidFill>
                  <a:schemeClr val="tx1"/>
                </a:solidFill>
                <a:effectLst/>
                <a:latin typeface="+mn-lt"/>
                <a:ea typeface="+mn-ea"/>
                <a:cs typeface="+mn-cs"/>
              </a:rPr>
              <a:t>fixed cost of ₹25,000 is deducted from contribution</a:t>
            </a:r>
            <a:r>
              <a:rPr lang="en-GB" sz="900" b="0" i="0" kern="1200" dirty="0">
                <a:solidFill>
                  <a:schemeClr val="tx1"/>
                </a:solidFill>
                <a:effectLst/>
                <a:latin typeface="+mn-lt"/>
                <a:ea typeface="+mn-ea"/>
                <a:cs typeface="+mn-cs"/>
              </a:rPr>
              <a:t>, as these costs remain constant regardless of production level.</a:t>
            </a:r>
          </a:p>
          <a:p>
            <a:pPr fontAlgn="t"/>
            <a:r>
              <a:rPr lang="en-GB" sz="900" b="0" i="0" kern="1200" dirty="0">
                <a:solidFill>
                  <a:schemeClr val="tx1"/>
                </a:solidFill>
                <a:effectLst/>
                <a:latin typeface="+mn-lt"/>
                <a:ea typeface="+mn-ea"/>
                <a:cs typeface="+mn-cs"/>
              </a:rPr>
              <a:t>The </a:t>
            </a:r>
            <a:r>
              <a:rPr lang="en-GB" sz="900" b="1" i="0" kern="1200" dirty="0">
                <a:solidFill>
                  <a:schemeClr val="tx1"/>
                </a:solidFill>
                <a:effectLst/>
                <a:latin typeface="+mn-lt"/>
                <a:ea typeface="+mn-ea"/>
                <a:cs typeface="+mn-cs"/>
              </a:rPr>
              <a:t>profit is calculated as ₹40,000 minus ₹25,000</a:t>
            </a:r>
            <a:r>
              <a:rPr lang="en-GB" sz="900" b="0" i="0" kern="1200" dirty="0">
                <a:solidFill>
                  <a:schemeClr val="tx1"/>
                </a:solidFill>
                <a:effectLst/>
                <a:latin typeface="+mn-lt"/>
                <a:ea typeface="+mn-ea"/>
                <a:cs typeface="+mn-cs"/>
              </a:rPr>
              <a:t>, resulting in ₹15,000.</a:t>
            </a:r>
          </a:p>
          <a:p>
            <a:pPr fontAlgn="t"/>
            <a:r>
              <a:rPr lang="en-GB" sz="900" b="0" i="0" kern="1200" dirty="0">
                <a:solidFill>
                  <a:schemeClr val="tx1"/>
                </a:solidFill>
                <a:effectLst/>
                <a:latin typeface="+mn-lt"/>
                <a:ea typeface="+mn-ea"/>
                <a:cs typeface="+mn-cs"/>
              </a:rPr>
              <a:t>Together, this example clearly shows how contribution is derived and used to arrive at profit under marginal costing, highlighting the relationship between sales, variable cost, fixed cost, and profit.</a:t>
            </a:r>
          </a:p>
          <a:p>
            <a:pPr marL="0" indent="0" algn="l">
              <a:buNone/>
            </a:pPr>
            <a:endParaRPr lang="en-GB" b="0" dirty="0"/>
          </a:p>
        </p:txBody>
      </p:sp>
      <p:sp>
        <p:nvSpPr>
          <p:cNvPr id="4" name="Slide Number Placeholder 3">
            <a:extLst>
              <a:ext uri="{FF2B5EF4-FFF2-40B4-BE49-F238E27FC236}">
                <a16:creationId xmlns:a16="http://schemas.microsoft.com/office/drawing/2014/main" id="{8AFB6865-011A-B4AB-40D5-D069FDAF314F}"/>
              </a:ext>
            </a:extLst>
          </p:cNvPr>
          <p:cNvSpPr>
            <a:spLocks noGrp="1"/>
          </p:cNvSpPr>
          <p:nvPr>
            <p:ph type="sldNum" sz="quarter" idx="5"/>
          </p:nvPr>
        </p:nvSpPr>
        <p:spPr/>
        <p:txBody>
          <a:bodyPr/>
          <a:lstStyle/>
          <a:p>
            <a:fld id="{8825E8DC-296A-4EB7-8515-D32CBB342896}" type="slidenum">
              <a:rPr lang="en-IN" smtClean="0"/>
              <a:t>18</a:t>
            </a:fld>
            <a:endParaRPr lang="en-IN"/>
          </a:p>
        </p:txBody>
      </p:sp>
    </p:spTree>
    <p:extLst>
      <p:ext uri="{BB962C8B-B14F-4D97-AF65-F5344CB8AC3E}">
        <p14:creationId xmlns:p14="http://schemas.microsoft.com/office/powerpoint/2010/main" val="1521875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58112-AA5B-3C89-BD47-BC9ED4A88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13674-3161-58C8-4D1C-1D84F9F52C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E10434-7C5F-326F-1885-B9661562DDB6}"/>
              </a:ext>
            </a:extLst>
          </p:cNvPr>
          <p:cNvSpPr>
            <a:spLocks noGrp="1"/>
          </p:cNvSpPr>
          <p:nvPr>
            <p:ph type="body" idx="1"/>
          </p:nvPr>
        </p:nvSpPr>
        <p:spPr/>
        <p:txBody>
          <a:bodyPr/>
          <a:lstStyle/>
          <a:p>
            <a:r>
              <a:rPr lang="en-GB" dirty="0">
                <a:effectLst/>
              </a:rPr>
              <a:t>One of the key </a:t>
            </a:r>
            <a:r>
              <a:rPr lang="en-GB" b="1" dirty="0">
                <a:effectLst/>
              </a:rPr>
              <a:t>features of marginal costing</a:t>
            </a:r>
            <a:r>
              <a:rPr lang="en-GB" dirty="0">
                <a:effectLst/>
              </a:rPr>
              <a:t> is its role as a </a:t>
            </a:r>
            <a:r>
              <a:rPr lang="en-GB" b="1" dirty="0">
                <a:effectLst/>
              </a:rPr>
              <a:t>technique of analysis that helps management in decision‑making</a:t>
            </a:r>
            <a:r>
              <a:rPr lang="en-GB" dirty="0">
                <a:effectLst/>
              </a:rPr>
              <a:t>. By focusing on the relationship between cost, volume, and profit, marginal costing </a:t>
            </a:r>
            <a:r>
              <a:rPr lang="en-GB" b="1" dirty="0">
                <a:effectLst/>
              </a:rPr>
              <a:t>supports evaluation of alternative choices</a:t>
            </a:r>
            <a:r>
              <a:rPr lang="en-GB" dirty="0">
                <a:effectLst/>
              </a:rPr>
              <a:t>, such as whether to accept a special order, discontinue a product, or expand production. It provides clarity by showing how changes in output affect profitability, thereby </a:t>
            </a:r>
            <a:r>
              <a:rPr lang="en-GB" b="1" dirty="0">
                <a:effectLst/>
              </a:rPr>
              <a:t>guiding pricing and production strategies</a:t>
            </a:r>
            <a:r>
              <a:rPr lang="en-GB" dirty="0">
                <a:effectLst/>
              </a:rPr>
              <a:t> effectively.</a:t>
            </a:r>
            <a:endParaRPr lang="en-GB" dirty="0"/>
          </a:p>
          <a:p>
            <a:r>
              <a:rPr lang="en-GB" dirty="0">
                <a:effectLst/>
              </a:rPr>
              <a:t>Another important feature is the </a:t>
            </a:r>
            <a:r>
              <a:rPr lang="en-GB" b="1" dirty="0">
                <a:effectLst/>
              </a:rPr>
              <a:t>segregation of costs </a:t>
            </a:r>
            <a:r>
              <a:rPr lang="en-GB" b="0" dirty="0">
                <a:effectLst/>
              </a:rPr>
              <a:t>into fixed and variable categories. </a:t>
            </a:r>
            <a:r>
              <a:rPr lang="en-GB" dirty="0">
                <a:effectLst/>
              </a:rPr>
              <a:t>In marginal costing, </a:t>
            </a:r>
            <a:r>
              <a:rPr lang="en-GB" b="1" dirty="0">
                <a:effectLst/>
              </a:rPr>
              <a:t>variable costs are considered relevant for decisions</a:t>
            </a:r>
            <a:r>
              <a:rPr lang="en-GB" dirty="0">
                <a:effectLst/>
              </a:rPr>
              <a:t>, since they change directly with production levels. </a:t>
            </a:r>
            <a:r>
              <a:rPr lang="en-GB" b="1" dirty="0">
                <a:effectLst/>
              </a:rPr>
              <a:t>Fixed costs, however, are treated as period charges</a:t>
            </a:r>
            <a:r>
              <a:rPr lang="en-GB" dirty="0">
                <a:effectLst/>
              </a:rPr>
              <a:t>, meaning they are written off against the contribution of the period rather than allocated to individual units. This distinction ensures that management focuses on costs that truly impact short‑term decisions, making marginal costing a practical and insightful tool for operational planning.</a:t>
            </a:r>
            <a:endParaRPr lang="en-GB" dirty="0"/>
          </a:p>
          <a:p>
            <a:pPr marL="0" indent="0" algn="l">
              <a:buNone/>
            </a:pPr>
            <a:endParaRPr lang="en-GB" b="0" dirty="0"/>
          </a:p>
        </p:txBody>
      </p:sp>
      <p:sp>
        <p:nvSpPr>
          <p:cNvPr id="4" name="Slide Number Placeholder 3">
            <a:extLst>
              <a:ext uri="{FF2B5EF4-FFF2-40B4-BE49-F238E27FC236}">
                <a16:creationId xmlns:a16="http://schemas.microsoft.com/office/drawing/2014/main" id="{37B8BA56-AD1B-48CA-41C3-D8A6357D74DD}"/>
              </a:ext>
            </a:extLst>
          </p:cNvPr>
          <p:cNvSpPr>
            <a:spLocks noGrp="1"/>
          </p:cNvSpPr>
          <p:nvPr>
            <p:ph type="sldNum" sz="quarter" idx="5"/>
          </p:nvPr>
        </p:nvSpPr>
        <p:spPr/>
        <p:txBody>
          <a:bodyPr/>
          <a:lstStyle/>
          <a:p>
            <a:fld id="{8825E8DC-296A-4EB7-8515-D32CBB342896}" type="slidenum">
              <a:rPr lang="en-IN" smtClean="0"/>
              <a:t>19</a:t>
            </a:fld>
            <a:endParaRPr lang="en-IN"/>
          </a:p>
        </p:txBody>
      </p:sp>
    </p:spTree>
    <p:extLst>
      <p:ext uri="{BB962C8B-B14F-4D97-AF65-F5344CB8AC3E}">
        <p14:creationId xmlns:p14="http://schemas.microsoft.com/office/powerpoint/2010/main" val="29981132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757A4-ECD0-BD69-FBC3-EE4C6BF748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262514-6FE0-2DFA-78E6-D72B4E2521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CEF252-ED95-204E-8CAA-0911DE705755}"/>
              </a:ext>
            </a:extLst>
          </p:cNvPr>
          <p:cNvSpPr>
            <a:spLocks noGrp="1"/>
          </p:cNvSpPr>
          <p:nvPr>
            <p:ph type="body" idx="1"/>
          </p:nvPr>
        </p:nvSpPr>
        <p:spPr/>
        <p:txBody>
          <a:bodyPr/>
          <a:lstStyle/>
          <a:p>
            <a:r>
              <a:rPr lang="en-GB" dirty="0">
                <a:effectLst/>
              </a:rPr>
              <a:t>Another important </a:t>
            </a:r>
            <a:r>
              <a:rPr lang="en-GB" b="1" dirty="0">
                <a:effectLst/>
              </a:rPr>
              <a:t>feature of marginal costing</a:t>
            </a:r>
            <a:r>
              <a:rPr lang="en-GB" dirty="0">
                <a:effectLst/>
              </a:rPr>
              <a:t> is that </a:t>
            </a:r>
            <a:r>
              <a:rPr lang="en-GB" b="1" dirty="0">
                <a:effectLst/>
              </a:rPr>
              <a:t>marginal costs are treated as product costs</a:t>
            </a:r>
            <a:r>
              <a:rPr lang="en-GB" dirty="0">
                <a:effectLst/>
              </a:rPr>
              <a:t>. This means </a:t>
            </a:r>
            <a:r>
              <a:rPr lang="en-GB" b="1" dirty="0">
                <a:effectLst/>
              </a:rPr>
              <a:t>only variable costs</a:t>
            </a:r>
            <a:r>
              <a:rPr lang="en-GB" dirty="0">
                <a:effectLst/>
              </a:rPr>
              <a:t>—such as direct materials, direct labour, direct expenses, and variable overheads—are charged to products. By focusing on these costs, managers can clearly </a:t>
            </a:r>
            <a:r>
              <a:rPr lang="en-GB" b="1" dirty="0">
                <a:effectLst/>
              </a:rPr>
              <a:t>identify the contribution each unit </a:t>
            </a:r>
            <a:r>
              <a:rPr lang="en-GB" dirty="0">
                <a:effectLst/>
              </a:rPr>
              <a:t>makes toward covering fixed costs and generating profit. This feature is especially useful in short‑term decision‑making, including pricing, special orders, and product discontinuation.</a:t>
            </a:r>
            <a:endParaRPr lang="en-GB" dirty="0"/>
          </a:p>
          <a:p>
            <a:r>
              <a:rPr lang="en-GB" dirty="0">
                <a:effectLst/>
              </a:rPr>
              <a:t>Another key </a:t>
            </a:r>
            <a:r>
              <a:rPr lang="en-GB" b="1" dirty="0">
                <a:effectLst/>
              </a:rPr>
              <a:t>feature of marginal costing</a:t>
            </a:r>
            <a:r>
              <a:rPr lang="en-GB" dirty="0">
                <a:effectLst/>
              </a:rPr>
              <a:t> is that </a:t>
            </a:r>
            <a:r>
              <a:rPr lang="en-GB" b="1" dirty="0">
                <a:effectLst/>
              </a:rPr>
              <a:t>fixed costs are treated as period costs</a:t>
            </a:r>
            <a:r>
              <a:rPr lang="en-GB" dirty="0">
                <a:effectLst/>
              </a:rPr>
              <a:t>. These expenses, such as rent, salaries, or depreciation, are not allocated to individual products. Instead, they are </a:t>
            </a:r>
            <a:r>
              <a:rPr lang="en-GB" b="1" dirty="0">
                <a:effectLst/>
              </a:rPr>
              <a:t>written off against the total contribution margin</a:t>
            </a:r>
            <a:r>
              <a:rPr lang="en-GB" dirty="0">
                <a:effectLst/>
              </a:rPr>
              <a:t> of the period in which they are incurred. This avoids distortion in product costing and emphasizes that fixed costs remain constant regardless of output. Together, these features make marginal costing a practical and reliable tool for managerial analysis and profit planning.</a:t>
            </a:r>
            <a:endParaRPr lang="en-GB" dirty="0"/>
          </a:p>
        </p:txBody>
      </p:sp>
      <p:sp>
        <p:nvSpPr>
          <p:cNvPr id="4" name="Slide Number Placeholder 3">
            <a:extLst>
              <a:ext uri="{FF2B5EF4-FFF2-40B4-BE49-F238E27FC236}">
                <a16:creationId xmlns:a16="http://schemas.microsoft.com/office/drawing/2014/main" id="{18A3BCB7-9445-9F7C-2FF0-FD10769BB483}"/>
              </a:ext>
            </a:extLst>
          </p:cNvPr>
          <p:cNvSpPr>
            <a:spLocks noGrp="1"/>
          </p:cNvSpPr>
          <p:nvPr>
            <p:ph type="sldNum" sz="quarter" idx="5"/>
          </p:nvPr>
        </p:nvSpPr>
        <p:spPr/>
        <p:txBody>
          <a:bodyPr/>
          <a:lstStyle/>
          <a:p>
            <a:fld id="{8825E8DC-296A-4EB7-8515-D32CBB342896}" type="slidenum">
              <a:rPr lang="en-IN" smtClean="0"/>
              <a:t>20</a:t>
            </a:fld>
            <a:endParaRPr lang="en-IN"/>
          </a:p>
        </p:txBody>
      </p:sp>
    </p:spTree>
    <p:extLst>
      <p:ext uri="{BB962C8B-B14F-4D97-AF65-F5344CB8AC3E}">
        <p14:creationId xmlns:p14="http://schemas.microsoft.com/office/powerpoint/2010/main" val="17415313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D31CF-8FAF-0FBA-D22D-3BAA86ACF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B8DD51-1AF5-E9FD-6FCA-4DEAE1FB92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9C0A37-FAE8-A704-61C8-B945B495FDC9}"/>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The valuation of inventory in marginal costing is based on </a:t>
            </a:r>
            <a:r>
              <a:rPr lang="en-GB" sz="900" b="1" i="0" kern="1200" dirty="0">
                <a:solidFill>
                  <a:schemeClr val="tx1"/>
                </a:solidFill>
                <a:effectLst/>
                <a:latin typeface="+mn-lt"/>
                <a:ea typeface="+mn-ea"/>
                <a:cs typeface="+mn-cs"/>
              </a:rPr>
              <a:t>using marginal cost only</a:t>
            </a:r>
            <a:r>
              <a:rPr lang="en-GB" sz="900" b="0" i="0" kern="1200" dirty="0">
                <a:solidFill>
                  <a:schemeClr val="tx1"/>
                </a:solidFill>
                <a:effectLst/>
                <a:latin typeface="+mn-lt"/>
                <a:ea typeface="+mn-ea"/>
                <a:cs typeface="+mn-cs"/>
              </a:rPr>
              <a:t>, ensuring that only variable costs are included. Under this method, it involves </a:t>
            </a:r>
            <a:r>
              <a:rPr lang="en-GB" sz="900" b="1" i="0" kern="1200" dirty="0">
                <a:solidFill>
                  <a:schemeClr val="tx1"/>
                </a:solidFill>
                <a:effectLst/>
                <a:latin typeface="+mn-lt"/>
                <a:ea typeface="+mn-ea"/>
                <a:cs typeface="+mn-cs"/>
              </a:rPr>
              <a:t>including work in progress goods</a:t>
            </a:r>
            <a:r>
              <a:rPr lang="en-GB" sz="900" b="0" i="0" kern="1200" dirty="0">
                <a:solidFill>
                  <a:schemeClr val="tx1"/>
                </a:solidFill>
                <a:effectLst/>
                <a:latin typeface="+mn-lt"/>
                <a:ea typeface="+mn-ea"/>
                <a:cs typeface="+mn-cs"/>
              </a:rPr>
              <a:t>, where partially completed items are valued using only variable production costs. Similarly, it also requires </a:t>
            </a:r>
            <a:r>
              <a:rPr lang="en-GB" sz="900" b="1" i="0" kern="1200" dirty="0">
                <a:solidFill>
                  <a:schemeClr val="tx1"/>
                </a:solidFill>
                <a:effectLst/>
                <a:latin typeface="+mn-lt"/>
                <a:ea typeface="+mn-ea"/>
                <a:cs typeface="+mn-cs"/>
              </a:rPr>
              <a:t>including finished goods valuation</a:t>
            </a:r>
            <a:r>
              <a:rPr lang="en-GB" sz="900" b="0" i="0" kern="1200" dirty="0">
                <a:solidFill>
                  <a:schemeClr val="tx1"/>
                </a:solidFill>
                <a:effectLst/>
                <a:latin typeface="+mn-lt"/>
                <a:ea typeface="+mn-ea"/>
                <a:cs typeface="+mn-cs"/>
              </a:rPr>
              <a:t>, where completed products are assigned cost based on materials, labour, and variable overheads only. An important feature of this approach is </a:t>
            </a:r>
            <a:r>
              <a:rPr lang="en-GB" sz="900" b="1" i="0" kern="1200" dirty="0">
                <a:solidFill>
                  <a:schemeClr val="tx1"/>
                </a:solidFill>
                <a:effectLst/>
                <a:latin typeface="+mn-lt"/>
                <a:ea typeface="+mn-ea"/>
                <a:cs typeface="+mn-cs"/>
              </a:rPr>
              <a:t>fixed costs being excluded</a:t>
            </a:r>
            <a:r>
              <a:rPr lang="en-GB" sz="900" b="0" i="0" kern="1200" dirty="0">
                <a:solidFill>
                  <a:schemeClr val="tx1"/>
                </a:solidFill>
                <a:effectLst/>
                <a:latin typeface="+mn-lt"/>
                <a:ea typeface="+mn-ea"/>
                <a:cs typeface="+mn-cs"/>
              </a:rPr>
              <a:t>, as such costs are treated as period costs and are not included in inventory values. This </a:t>
            </a:r>
            <a:r>
              <a:rPr lang="en-GB" sz="900" b="1" i="0" kern="1200" dirty="0">
                <a:solidFill>
                  <a:schemeClr val="tx1"/>
                </a:solidFill>
                <a:effectLst/>
                <a:latin typeface="+mn-lt"/>
                <a:ea typeface="+mn-ea"/>
                <a:cs typeface="+mn-cs"/>
              </a:rPr>
              <a:t>helps in avoiding overvaluation of stock</a:t>
            </a:r>
            <a:r>
              <a:rPr lang="en-GB" sz="900" b="0" i="0" kern="1200" dirty="0">
                <a:solidFill>
                  <a:schemeClr val="tx1"/>
                </a:solidFill>
                <a:effectLst/>
                <a:latin typeface="+mn-lt"/>
                <a:ea typeface="+mn-ea"/>
                <a:cs typeface="+mn-cs"/>
              </a:rPr>
              <a:t> and gives a clearer picture of contribution. Overall, this method provides a realistic assessment of inventory by focusing only on costs that change with production. It supports better decision-making, improves cost control, and ensures accurate profit measurement across different accounting periods effectively. </a:t>
            </a:r>
          </a:p>
          <a:p>
            <a:pPr marL="0" indent="0" algn="l">
              <a:buNone/>
            </a:pPr>
            <a:endParaRPr lang="en-GB" b="0" dirty="0"/>
          </a:p>
        </p:txBody>
      </p:sp>
      <p:sp>
        <p:nvSpPr>
          <p:cNvPr id="4" name="Slide Number Placeholder 3">
            <a:extLst>
              <a:ext uri="{FF2B5EF4-FFF2-40B4-BE49-F238E27FC236}">
                <a16:creationId xmlns:a16="http://schemas.microsoft.com/office/drawing/2014/main" id="{7C1C8CFE-8ADA-15F8-11DF-D6F53C640C99}"/>
              </a:ext>
            </a:extLst>
          </p:cNvPr>
          <p:cNvSpPr>
            <a:spLocks noGrp="1"/>
          </p:cNvSpPr>
          <p:nvPr>
            <p:ph type="sldNum" sz="quarter" idx="5"/>
          </p:nvPr>
        </p:nvSpPr>
        <p:spPr/>
        <p:txBody>
          <a:bodyPr/>
          <a:lstStyle/>
          <a:p>
            <a:fld id="{8825E8DC-296A-4EB7-8515-D32CBB342896}" type="slidenum">
              <a:rPr lang="en-IN" smtClean="0"/>
              <a:t>21</a:t>
            </a:fld>
            <a:endParaRPr lang="en-IN"/>
          </a:p>
        </p:txBody>
      </p:sp>
    </p:spTree>
    <p:extLst>
      <p:ext uri="{BB962C8B-B14F-4D97-AF65-F5344CB8AC3E}">
        <p14:creationId xmlns:p14="http://schemas.microsoft.com/office/powerpoint/2010/main" val="3173552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35660-E7BF-B411-401E-2F4ECDB7B3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FEBD5-EF7C-CEE0-A708-5E1E3B371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17C9F-99BE-D071-C621-B70F38F3FAD2}"/>
              </a:ext>
            </a:extLst>
          </p:cNvPr>
          <p:cNvSpPr>
            <a:spLocks noGrp="1"/>
          </p:cNvSpPr>
          <p:nvPr>
            <p:ph type="body" idx="1"/>
          </p:nvPr>
        </p:nvSpPr>
        <p:spPr/>
        <p:txBody>
          <a:bodyPr/>
          <a:lstStyle/>
          <a:p>
            <a:pPr fontAlgn="t"/>
            <a:r>
              <a:rPr lang="en-GB" sz="900" b="0" i="0" kern="1200" dirty="0">
                <a:solidFill>
                  <a:schemeClr val="tx1"/>
                </a:solidFill>
                <a:effectLst/>
                <a:latin typeface="+mn-lt"/>
                <a:ea typeface="+mn-ea"/>
                <a:cs typeface="+mn-cs"/>
              </a:rPr>
              <a:t>The contribution analysis in marginal costing focuses on the concept of contribution, which plays a key role in decision-making. Contribution is </a:t>
            </a:r>
            <a:r>
              <a:rPr lang="en-GB" sz="900" b="1" i="0" kern="1200" dirty="0">
                <a:solidFill>
                  <a:schemeClr val="tx1"/>
                </a:solidFill>
                <a:effectLst/>
                <a:latin typeface="+mn-lt"/>
                <a:ea typeface="+mn-ea"/>
                <a:cs typeface="+mn-cs"/>
              </a:rPr>
              <a:t>calculated as sales minus variable cost</a:t>
            </a:r>
            <a:r>
              <a:rPr lang="en-GB" sz="900" b="0" i="0" kern="1200" dirty="0">
                <a:solidFill>
                  <a:schemeClr val="tx1"/>
                </a:solidFill>
                <a:effectLst/>
                <a:latin typeface="+mn-lt"/>
                <a:ea typeface="+mn-ea"/>
                <a:cs typeface="+mn-cs"/>
              </a:rPr>
              <a:t>, showing the excess of revenue over variable expenses. This amount is important because it contributes to </a:t>
            </a:r>
            <a:r>
              <a:rPr lang="en-GB" sz="900" b="1" i="0" kern="1200" dirty="0">
                <a:solidFill>
                  <a:schemeClr val="tx1"/>
                </a:solidFill>
                <a:effectLst/>
                <a:latin typeface="+mn-lt"/>
                <a:ea typeface="+mn-ea"/>
                <a:cs typeface="+mn-cs"/>
              </a:rPr>
              <a:t>covering fixed costs and profit</a:t>
            </a:r>
            <a:r>
              <a:rPr lang="en-GB" sz="900" b="0" i="0" kern="1200" dirty="0">
                <a:solidFill>
                  <a:schemeClr val="tx1"/>
                </a:solidFill>
                <a:effectLst/>
                <a:latin typeface="+mn-lt"/>
                <a:ea typeface="+mn-ea"/>
                <a:cs typeface="+mn-cs"/>
              </a:rPr>
              <a:t>, meaning it first absorbs fixed expenses and any remaining balance becomes profit. By using this approach, it helps in </a:t>
            </a:r>
            <a:r>
              <a:rPr lang="en-GB" sz="900" b="1" i="0" kern="1200" dirty="0">
                <a:solidFill>
                  <a:schemeClr val="tx1"/>
                </a:solidFill>
                <a:effectLst/>
                <a:latin typeface="+mn-lt"/>
                <a:ea typeface="+mn-ea"/>
                <a:cs typeface="+mn-cs"/>
              </a:rPr>
              <a:t>measuring profitability clearly</a:t>
            </a:r>
            <a:r>
              <a:rPr lang="en-GB" sz="900" b="0" i="0" kern="1200" dirty="0">
                <a:solidFill>
                  <a:schemeClr val="tx1"/>
                </a:solidFill>
                <a:effectLst/>
                <a:latin typeface="+mn-lt"/>
                <a:ea typeface="+mn-ea"/>
                <a:cs typeface="+mn-cs"/>
              </a:rPr>
              <a:t>, as managers can easily see how each product or activity adds to overall earnings. This clarity makes the technique highly effective and practical. It is particularly </a:t>
            </a:r>
            <a:r>
              <a:rPr lang="en-GB" sz="900" b="1" i="0" kern="1200" dirty="0">
                <a:solidFill>
                  <a:schemeClr val="tx1"/>
                </a:solidFill>
                <a:effectLst/>
                <a:latin typeface="+mn-lt"/>
                <a:ea typeface="+mn-ea"/>
                <a:cs typeface="+mn-cs"/>
              </a:rPr>
              <a:t>useful for short term decisions</a:t>
            </a:r>
            <a:r>
              <a:rPr lang="en-GB" sz="900" b="0" i="0" kern="1200" dirty="0">
                <a:solidFill>
                  <a:schemeClr val="tx1"/>
                </a:solidFill>
                <a:effectLst/>
                <a:latin typeface="+mn-lt"/>
                <a:ea typeface="+mn-ea"/>
                <a:cs typeface="+mn-cs"/>
              </a:rPr>
              <a:t>, such as pricing, product mix, and production planning, where focus is on immediate outcomes. Overall, contribution analysis provides a simple yet powerful method to understand cost behaviour, improve cost control, and support effective managerial decision-making in different business situations consistently.</a:t>
            </a:r>
          </a:p>
          <a:p>
            <a:pPr marL="0" indent="0" algn="l">
              <a:buNone/>
            </a:pPr>
            <a:endParaRPr lang="en-GB" b="0" dirty="0"/>
          </a:p>
        </p:txBody>
      </p:sp>
      <p:sp>
        <p:nvSpPr>
          <p:cNvPr id="4" name="Slide Number Placeholder 3">
            <a:extLst>
              <a:ext uri="{FF2B5EF4-FFF2-40B4-BE49-F238E27FC236}">
                <a16:creationId xmlns:a16="http://schemas.microsoft.com/office/drawing/2014/main" id="{754C1E58-0354-E61A-304B-507B8D39C925}"/>
              </a:ext>
            </a:extLst>
          </p:cNvPr>
          <p:cNvSpPr>
            <a:spLocks noGrp="1"/>
          </p:cNvSpPr>
          <p:nvPr>
            <p:ph type="sldNum" sz="quarter" idx="5"/>
          </p:nvPr>
        </p:nvSpPr>
        <p:spPr/>
        <p:txBody>
          <a:bodyPr/>
          <a:lstStyle/>
          <a:p>
            <a:fld id="{8825E8DC-296A-4EB7-8515-D32CBB342896}" type="slidenum">
              <a:rPr lang="en-IN" smtClean="0"/>
              <a:t>22</a:t>
            </a:fld>
            <a:endParaRPr lang="en-IN"/>
          </a:p>
        </p:txBody>
      </p:sp>
    </p:spTree>
    <p:extLst>
      <p:ext uri="{BB962C8B-B14F-4D97-AF65-F5344CB8AC3E}">
        <p14:creationId xmlns:p14="http://schemas.microsoft.com/office/powerpoint/2010/main" val="3082222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dirty="0"/>
              <a:t>In this session, we learned that marginal costing is a specialised analytical technique used to support managerial planning, control, and decision making. The discussion highlighted the distinction between variable and fixed costs, the treatment of variable costs as product costs, and the recognition of fixed costs as period costs. We also examined the calculation of marginal cost and the importance of contribution in assessing profitability. Furthermore, the session demonstrated how marginal costing assists managers in determining production levels, selecting profitable product lines, evaluating make-or-buy alternatives, choosing manufacturing methods, and deciding whether operations should continue during periods of reduced demand.</a:t>
            </a:r>
          </a:p>
          <a:p>
            <a:endParaRPr lang="en-GB" dirty="0"/>
          </a:p>
        </p:txBody>
      </p:sp>
      <p:sp>
        <p:nvSpPr>
          <p:cNvPr id="4" name="Slide Number Placeholder 3"/>
          <p:cNvSpPr>
            <a:spLocks noGrp="1"/>
          </p:cNvSpPr>
          <p:nvPr>
            <p:ph type="sldNum" sz="quarter" idx="5"/>
          </p:nvPr>
        </p:nvSpPr>
        <p:spPr/>
        <p:txBody>
          <a:bodyPr/>
          <a:lstStyle/>
          <a:p>
            <a:fld id="{8825E8DC-296A-4EB7-8515-D32CBB342896}" type="slidenum">
              <a:rPr lang="en-IN" smtClean="0"/>
              <a:t>23</a:t>
            </a:fld>
            <a:endParaRPr lang="en-IN"/>
          </a:p>
        </p:txBody>
      </p:sp>
    </p:spTree>
    <p:extLst>
      <p:ext uri="{BB962C8B-B14F-4D97-AF65-F5344CB8AC3E}">
        <p14:creationId xmlns:p14="http://schemas.microsoft.com/office/powerpoint/2010/main" val="938271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1344700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3097955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7657888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6/29/2026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4772622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6/29/2026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9911216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6/29/2026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1554491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3585481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9079555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7218199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5221743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016539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376505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B202DC-F0A3-4E92-8041-0496E7288B33}" type="datetimeFigureOut">
              <a:rPr lang="en-IN" smtClean="0"/>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BDAB67-ABCD-49F0-8625-BA4ECE077FD6}" type="slidenum">
              <a:rPr lang="en-IN" smtClean="0"/>
              <a:t>‹#›</a:t>
            </a:fld>
            <a:endParaRPr lang="en-IN"/>
          </a:p>
        </p:txBody>
      </p:sp>
      <p:sp>
        <p:nvSpPr>
          <p:cNvPr id="7" name="Shape 0">
            <a:extLst>
              <a:ext uri="{FF2B5EF4-FFF2-40B4-BE49-F238E27FC236}">
                <a16:creationId xmlns:a16="http://schemas.microsoft.com/office/drawing/2014/main" id="{E7E2D51D-971D-0AFC-BCBC-B34E23F0E5B8}"/>
              </a:ext>
            </a:extLst>
          </p:cNvPr>
          <p:cNvSpPr/>
          <p:nvPr userDrawn="1"/>
        </p:nvSpPr>
        <p:spPr>
          <a:xfrm>
            <a:off x="0" y="-2107"/>
            <a:ext cx="9144000" cy="680386"/>
          </a:xfrm>
          <a:prstGeom prst="rect">
            <a:avLst/>
          </a:prstGeom>
          <a:solidFill>
            <a:srgbClr val="0E284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1">
            <a:extLst>
              <a:ext uri="{FF2B5EF4-FFF2-40B4-BE49-F238E27FC236}">
                <a16:creationId xmlns:a16="http://schemas.microsoft.com/office/drawing/2014/main" id="{9AEB8E96-4EA4-07F9-49F9-1140821357E6}"/>
              </a:ext>
            </a:extLst>
          </p:cNvPr>
          <p:cNvSpPr/>
          <p:nvPr userDrawn="1"/>
        </p:nvSpPr>
        <p:spPr>
          <a:xfrm>
            <a:off x="7200900" y="-2107"/>
            <a:ext cx="1943100" cy="678277"/>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2E9DD92E-1DAF-15B4-90C4-CA96241D5193}"/>
              </a:ext>
            </a:extLst>
          </p:cNvPr>
          <p:cNvSpPr/>
          <p:nvPr userDrawn="1"/>
        </p:nvSpPr>
        <p:spPr>
          <a:xfrm rot="1680000">
            <a:off x="5906688" y="-119171"/>
            <a:ext cx="292608" cy="940737"/>
          </a:xfrm>
          <a:custGeom>
            <a:avLst/>
            <a:gdLst>
              <a:gd name="csX0" fmla="*/ 0 w 292608"/>
              <a:gd name="csY0" fmla="*/ 155582 h 940737"/>
              <a:gd name="csX1" fmla="*/ 292608 w 292608"/>
              <a:gd name="csY1" fmla="*/ 0 h 940737"/>
              <a:gd name="csX2" fmla="*/ 292608 w 292608"/>
              <a:gd name="csY2" fmla="*/ 785155 h 940737"/>
              <a:gd name="csX3" fmla="*/ 0 w 292608"/>
              <a:gd name="csY3" fmla="*/ 940737 h 940737"/>
            </a:gdLst>
            <a:ahLst/>
            <a:cxnLst>
              <a:cxn ang="0">
                <a:pos x="csX0" y="csY0"/>
              </a:cxn>
              <a:cxn ang="0">
                <a:pos x="csX1" y="csY1"/>
              </a:cxn>
              <a:cxn ang="0">
                <a:pos x="csX2" y="csY2"/>
              </a:cxn>
              <a:cxn ang="0">
                <a:pos x="csX3" y="csY3"/>
              </a:cxn>
            </a:cxnLst>
            <a:rect l="l" t="t" r="r" b="b"/>
            <a:pathLst>
              <a:path w="292608" h="940737">
                <a:moveTo>
                  <a:pt x="0" y="155582"/>
                </a:moveTo>
                <a:lnTo>
                  <a:pt x="292608" y="0"/>
                </a:lnTo>
                <a:lnTo>
                  <a:pt x="292608" y="785155"/>
                </a:lnTo>
                <a:lnTo>
                  <a:pt x="0" y="940737"/>
                </a:lnTo>
                <a:close/>
              </a:path>
            </a:pathLst>
          </a:custGeom>
          <a:solidFill>
            <a:srgbClr val="0A1E30"/>
          </a:solidFill>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860F6BAB-952F-69FE-632D-FA30C5BF7671}"/>
              </a:ext>
            </a:extLst>
          </p:cNvPr>
          <p:cNvSpPr/>
          <p:nvPr userDrawn="1"/>
        </p:nvSpPr>
        <p:spPr>
          <a:xfrm rot="1680000">
            <a:off x="6088933" y="-72825"/>
            <a:ext cx="118872" cy="845665"/>
          </a:xfrm>
          <a:custGeom>
            <a:avLst/>
            <a:gdLst>
              <a:gd name="csX0" fmla="*/ 0 w 118872"/>
              <a:gd name="csY0" fmla="*/ 63205 h 845665"/>
              <a:gd name="csX1" fmla="*/ 118872 w 118872"/>
              <a:gd name="csY1" fmla="*/ 0 h 845665"/>
              <a:gd name="csX2" fmla="*/ 118872 w 118872"/>
              <a:gd name="csY2" fmla="*/ 782459 h 845665"/>
              <a:gd name="csX3" fmla="*/ 0 w 118872"/>
              <a:gd name="csY3" fmla="*/ 845665 h 845665"/>
            </a:gdLst>
            <a:ahLst/>
            <a:cxnLst>
              <a:cxn ang="0">
                <a:pos x="csX0" y="csY0"/>
              </a:cxn>
              <a:cxn ang="0">
                <a:pos x="csX1" y="csY1"/>
              </a:cxn>
              <a:cxn ang="0">
                <a:pos x="csX2" y="csY2"/>
              </a:cxn>
              <a:cxn ang="0">
                <a:pos x="csX3" y="csY3"/>
              </a:cxn>
            </a:cxnLst>
            <a:rect l="l" t="t" r="r" b="b"/>
            <a:pathLst>
              <a:path w="118872" h="845665">
                <a:moveTo>
                  <a:pt x="0" y="63205"/>
                </a:moveTo>
                <a:lnTo>
                  <a:pt x="118872" y="0"/>
                </a:lnTo>
                <a:lnTo>
                  <a:pt x="118872" y="782459"/>
                </a:lnTo>
                <a:lnTo>
                  <a:pt x="0" y="845665"/>
                </a:lnTo>
                <a:close/>
              </a:path>
            </a:pathLst>
          </a:custGeom>
          <a:solidFill>
            <a:srgbClr val="156082"/>
          </a:solidFill>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DDC95C12-AE50-AB01-E286-C791C1D90AC7}"/>
              </a:ext>
            </a:extLst>
          </p:cNvPr>
          <p:cNvSpPr/>
          <p:nvPr userDrawn="1"/>
        </p:nvSpPr>
        <p:spPr>
          <a:xfrm rot="1680000">
            <a:off x="6221381" y="-139466"/>
            <a:ext cx="347472" cy="986093"/>
          </a:xfrm>
          <a:custGeom>
            <a:avLst/>
            <a:gdLst>
              <a:gd name="csX0" fmla="*/ 0 w 347472"/>
              <a:gd name="csY0" fmla="*/ 184754 h 986093"/>
              <a:gd name="csX1" fmla="*/ 347472 w 347472"/>
              <a:gd name="csY1" fmla="*/ 0 h 986093"/>
              <a:gd name="csX2" fmla="*/ 347472 w 347472"/>
              <a:gd name="csY2" fmla="*/ 801339 h 986093"/>
              <a:gd name="csX3" fmla="*/ 0 w 347472"/>
              <a:gd name="csY3" fmla="*/ 986093 h 986093"/>
            </a:gdLst>
            <a:ahLst/>
            <a:cxnLst>
              <a:cxn ang="0">
                <a:pos x="csX0" y="csY0"/>
              </a:cxn>
              <a:cxn ang="0">
                <a:pos x="csX1" y="csY1"/>
              </a:cxn>
              <a:cxn ang="0">
                <a:pos x="csX2" y="csY2"/>
              </a:cxn>
              <a:cxn ang="0">
                <a:pos x="csX3" y="csY3"/>
              </a:cxn>
            </a:cxnLst>
            <a:rect l="l" t="t" r="r" b="b"/>
            <a:pathLst>
              <a:path w="347472" h="986093">
                <a:moveTo>
                  <a:pt x="0" y="184754"/>
                </a:moveTo>
                <a:lnTo>
                  <a:pt x="347472" y="0"/>
                </a:lnTo>
                <a:lnTo>
                  <a:pt x="347472" y="801339"/>
                </a:lnTo>
                <a:lnTo>
                  <a:pt x="0" y="986093"/>
                </a:lnTo>
                <a:close/>
              </a:path>
            </a:pathLst>
          </a:custGeom>
          <a:solidFill>
            <a:srgbClr val="E97132"/>
          </a:solidFill>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7">
            <a:extLst>
              <a:ext uri="{FF2B5EF4-FFF2-40B4-BE49-F238E27FC236}">
                <a16:creationId xmlns:a16="http://schemas.microsoft.com/office/drawing/2014/main" id="{FCB66B9E-AD04-7AB5-30EA-B9F89BC8102C}"/>
              </a:ext>
            </a:extLst>
          </p:cNvPr>
          <p:cNvSpPr/>
          <p:nvPr userDrawn="1"/>
        </p:nvSpPr>
        <p:spPr>
          <a:xfrm>
            <a:off x="0" y="676170"/>
            <a:ext cx="9144000" cy="36576"/>
          </a:xfrm>
          <a:prstGeom prst="rect">
            <a:avLst/>
          </a:prstGeom>
          <a:solidFill>
            <a:srgbClr val="E9713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8">
            <a:extLst>
              <a:ext uri="{FF2B5EF4-FFF2-40B4-BE49-F238E27FC236}">
                <a16:creationId xmlns:a16="http://schemas.microsoft.com/office/drawing/2014/main" id="{D9EE8D05-2670-D589-65B9-F1A57592EF95}"/>
              </a:ext>
            </a:extLst>
          </p:cNvPr>
          <p:cNvSpPr/>
          <p:nvPr userDrawn="1"/>
        </p:nvSpPr>
        <p:spPr>
          <a:xfrm>
            <a:off x="378920" y="123340"/>
            <a:ext cx="4457369" cy="40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Learning Objectives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Picture 13" descr="PPSU">
            <a:extLst>
              <a:ext uri="{FF2B5EF4-FFF2-40B4-BE49-F238E27FC236}">
                <a16:creationId xmlns:a16="http://schemas.microsoft.com/office/drawing/2014/main" id="{D6F4A216-522B-1809-C18D-0EF6EBBC1605}"/>
              </a:ext>
            </a:extLst>
          </p:cNvPr>
          <p:cNvPicPr>
            <a:picLocks noChangeAspect="1"/>
          </p:cNvPicPr>
          <p:nvPr userDrawn="1"/>
        </p:nvPicPr>
        <p:blipFill>
          <a:blip r:embed="rId2"/>
          <a:stretch>
            <a:fillRect/>
          </a:stretch>
        </p:blipFill>
        <p:spPr>
          <a:xfrm>
            <a:off x="7387030" y="168778"/>
            <a:ext cx="1589890" cy="336505"/>
          </a:xfrm>
          <a:prstGeom prst="rect">
            <a:avLst/>
          </a:prstGeom>
        </p:spPr>
      </p:pic>
    </p:spTree>
    <p:extLst>
      <p:ext uri="{BB962C8B-B14F-4D97-AF65-F5344CB8AC3E}">
        <p14:creationId xmlns:p14="http://schemas.microsoft.com/office/powerpoint/2010/main" val="388003352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B202DC-F0A3-4E92-8041-0496E7288B33}" type="datetimeFigureOut">
              <a:rPr lang="en-IN" smtClean="0"/>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BDAB67-ABCD-49F0-8625-BA4ECE077FD6}" type="slidenum">
              <a:rPr lang="en-IN" smtClean="0"/>
              <a:t>‹#›</a:t>
            </a:fld>
            <a:endParaRPr lang="en-IN"/>
          </a:p>
        </p:txBody>
      </p:sp>
    </p:spTree>
    <p:extLst>
      <p:ext uri="{BB962C8B-B14F-4D97-AF65-F5344CB8AC3E}">
        <p14:creationId xmlns:p14="http://schemas.microsoft.com/office/powerpoint/2010/main" val="50856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B202DC-F0A3-4E92-8041-0496E7288B33}" type="datetimeFigureOut">
              <a:rPr lang="en-IN" smtClean="0"/>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BDAB67-ABCD-49F0-8625-BA4ECE077FD6}" type="slidenum">
              <a:rPr lang="en-IN" smtClean="0"/>
              <a:t>‹#›</a:t>
            </a:fld>
            <a:endParaRPr lang="en-IN"/>
          </a:p>
        </p:txBody>
      </p:sp>
    </p:spTree>
    <p:extLst>
      <p:ext uri="{BB962C8B-B14F-4D97-AF65-F5344CB8AC3E}">
        <p14:creationId xmlns:p14="http://schemas.microsoft.com/office/powerpoint/2010/main" val="1953443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B202DC-F0A3-4E92-8041-0496E7288B33}" type="datetimeFigureOut">
              <a:rPr lang="en-IN" smtClean="0"/>
              <a:t>29-06-2026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BDAB67-ABCD-49F0-8625-BA4ECE077FD6}" type="slidenum">
              <a:rPr lang="en-IN" smtClean="0"/>
              <a:t>‹#›</a:t>
            </a:fld>
            <a:endParaRPr lang="en-IN"/>
          </a:p>
        </p:txBody>
      </p:sp>
    </p:spTree>
    <p:extLst>
      <p:ext uri="{BB962C8B-B14F-4D97-AF65-F5344CB8AC3E}">
        <p14:creationId xmlns:p14="http://schemas.microsoft.com/office/powerpoint/2010/main" val="820566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B202DC-F0A3-4E92-8041-0496E7288B33}" type="datetimeFigureOut">
              <a:rPr lang="en-IN" smtClean="0"/>
              <a:t>29-06-2026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BDAB67-ABCD-49F0-8625-BA4ECE077FD6}" type="slidenum">
              <a:rPr lang="en-IN" smtClean="0"/>
              <a:t>‹#›</a:t>
            </a:fld>
            <a:endParaRPr lang="en-IN"/>
          </a:p>
        </p:txBody>
      </p:sp>
    </p:spTree>
    <p:extLst>
      <p:ext uri="{BB962C8B-B14F-4D97-AF65-F5344CB8AC3E}">
        <p14:creationId xmlns:p14="http://schemas.microsoft.com/office/powerpoint/2010/main" val="34640261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B202DC-F0A3-4E92-8041-0496E7288B33}" type="datetimeFigureOut">
              <a:rPr lang="en-IN" smtClean="0"/>
              <a:t>29-06-2026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BDAB67-ABCD-49F0-8625-BA4ECE077FD6}" type="slidenum">
              <a:rPr lang="en-IN" smtClean="0"/>
              <a:t>‹#›</a:t>
            </a:fld>
            <a:endParaRPr lang="en-IN"/>
          </a:p>
        </p:txBody>
      </p:sp>
    </p:spTree>
    <p:extLst>
      <p:ext uri="{BB962C8B-B14F-4D97-AF65-F5344CB8AC3E}">
        <p14:creationId xmlns:p14="http://schemas.microsoft.com/office/powerpoint/2010/main" val="6688768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B202DC-F0A3-4E92-8041-0496E7288B33}" type="datetimeFigureOut">
              <a:rPr lang="en-IN" smtClean="0"/>
              <a:t>29-06-2026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BDAB67-ABCD-49F0-8625-BA4ECE077FD6}" type="slidenum">
              <a:rPr lang="en-IN" smtClean="0"/>
              <a:t>‹#›</a:t>
            </a:fld>
            <a:endParaRPr lang="en-IN"/>
          </a:p>
        </p:txBody>
      </p:sp>
    </p:spTree>
    <p:extLst>
      <p:ext uri="{BB962C8B-B14F-4D97-AF65-F5344CB8AC3E}">
        <p14:creationId xmlns:p14="http://schemas.microsoft.com/office/powerpoint/2010/main" val="2247980248"/>
      </p:ext>
    </p:extLst>
  </p:cSld>
  <p:clrMapOvr>
    <a:masterClrMapping/>
  </p:clrMapOvr>
  <p:extLst>
    <p:ext uri="{DCECCB84-F9BA-43D5-87BE-67443E8EF086}">
      <p15:sldGuideLst xmlns:p15="http://schemas.microsoft.com/office/powerpoint/2012/main">
        <p15:guide id="1" orient="horz" pos="2913" userDrawn="1">
          <p15:clr>
            <a:srgbClr val="FBAE40"/>
          </p15:clr>
        </p15:guide>
        <p15:guide id="2" pos="24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3B202DC-F0A3-4E92-8041-0496E7288B33}" type="datetimeFigureOut">
              <a:rPr lang="en-IN" smtClean="0"/>
              <a:t>29-06-2026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BDAB67-ABCD-49F0-8625-BA4ECE077FD6}" type="slidenum">
              <a:rPr lang="en-IN" smtClean="0"/>
              <a:t>‹#›</a:t>
            </a:fld>
            <a:endParaRPr lang="en-IN"/>
          </a:p>
        </p:txBody>
      </p:sp>
    </p:spTree>
    <p:extLst>
      <p:ext uri="{BB962C8B-B14F-4D97-AF65-F5344CB8AC3E}">
        <p14:creationId xmlns:p14="http://schemas.microsoft.com/office/powerpoint/2010/main" val="41457734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3B202DC-F0A3-4E92-8041-0496E7288B33}" type="datetimeFigureOut">
              <a:rPr lang="en-IN" smtClean="0"/>
              <a:t>29-06-2026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BDAB67-ABCD-49F0-8625-BA4ECE077FD6}" type="slidenum">
              <a:rPr lang="en-IN" smtClean="0"/>
              <a:t>‹#›</a:t>
            </a:fld>
            <a:endParaRPr lang="en-IN"/>
          </a:p>
        </p:txBody>
      </p:sp>
    </p:spTree>
    <p:extLst>
      <p:ext uri="{BB962C8B-B14F-4D97-AF65-F5344CB8AC3E}">
        <p14:creationId xmlns:p14="http://schemas.microsoft.com/office/powerpoint/2010/main" val="37129473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B202DC-F0A3-4E92-8041-0496E7288B33}" type="datetimeFigureOut">
              <a:rPr lang="en-IN" smtClean="0"/>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BDAB67-ABCD-49F0-8625-BA4ECE077FD6}" type="slidenum">
              <a:rPr lang="en-IN" smtClean="0"/>
              <a:t>‹#›</a:t>
            </a:fld>
            <a:endParaRPr lang="en-IN"/>
          </a:p>
        </p:txBody>
      </p:sp>
    </p:spTree>
    <p:extLst>
      <p:ext uri="{BB962C8B-B14F-4D97-AF65-F5344CB8AC3E}">
        <p14:creationId xmlns:p14="http://schemas.microsoft.com/office/powerpoint/2010/main" val="7047850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B202DC-F0A3-4E92-8041-0496E7288B33}" type="datetimeFigureOut">
              <a:rPr lang="en-IN" smtClean="0"/>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BDAB67-ABCD-49F0-8625-BA4ECE077FD6}" type="slidenum">
              <a:rPr lang="en-IN" smtClean="0"/>
              <a:t>‹#›</a:t>
            </a:fld>
            <a:endParaRPr lang="en-IN"/>
          </a:p>
        </p:txBody>
      </p:sp>
    </p:spTree>
    <p:extLst>
      <p:ext uri="{BB962C8B-B14F-4D97-AF65-F5344CB8AC3E}">
        <p14:creationId xmlns:p14="http://schemas.microsoft.com/office/powerpoint/2010/main" val="256212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3B202DC-F0A3-4E92-8041-0496E7288B33}" type="datetimeFigureOut">
              <a:rPr lang="en-IN" smtClean="0"/>
              <a:t>29-06-2026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DBDAB67-ABCD-49F0-8625-BA4ECE077FD6}" type="slidenum">
              <a:rPr lang="en-IN" smtClean="0"/>
              <a:t>‹#›</a:t>
            </a:fld>
            <a:endParaRPr lang="en-IN"/>
          </a:p>
        </p:txBody>
      </p:sp>
      <p:sp>
        <p:nvSpPr>
          <p:cNvPr id="7" name="Rectangle 6">
            <a:extLst>
              <a:ext uri="{FF2B5EF4-FFF2-40B4-BE49-F238E27FC236}">
                <a16:creationId xmlns:a16="http://schemas.microsoft.com/office/drawing/2014/main" id="{B0F89168-B9B4-42EC-E4FA-356BAFFCC1AB}"/>
              </a:ext>
            </a:extLst>
          </p:cNvPr>
          <p:cNvSpPr/>
          <p:nvPr userDrawn="1"/>
        </p:nvSpPr>
        <p:spPr>
          <a:xfrm>
            <a:off x="-1032545" y="74964"/>
            <a:ext cx="370156" cy="370156"/>
          </a:xfrm>
          <a:prstGeom prst="rect">
            <a:avLst/>
          </a:prstGeom>
          <a:solidFill>
            <a:srgbClr val="F04B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8" name="Rectangle 7">
            <a:extLst>
              <a:ext uri="{FF2B5EF4-FFF2-40B4-BE49-F238E27FC236}">
                <a16:creationId xmlns:a16="http://schemas.microsoft.com/office/drawing/2014/main" id="{839BB6DA-DF66-FDFF-EF12-012E9AE86D7D}"/>
              </a:ext>
            </a:extLst>
          </p:cNvPr>
          <p:cNvSpPr/>
          <p:nvPr userDrawn="1"/>
        </p:nvSpPr>
        <p:spPr>
          <a:xfrm>
            <a:off x="-577461" y="74964"/>
            <a:ext cx="370156" cy="370156"/>
          </a:xfrm>
          <a:prstGeom prst="rect">
            <a:avLst/>
          </a:prstGeom>
          <a:solidFill>
            <a:srgbClr val="B311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9" name="Rectangle 8">
            <a:extLst>
              <a:ext uri="{FF2B5EF4-FFF2-40B4-BE49-F238E27FC236}">
                <a16:creationId xmlns:a16="http://schemas.microsoft.com/office/drawing/2014/main" id="{77DFB59E-458F-CF39-CD76-B0E0AE53347D}"/>
              </a:ext>
            </a:extLst>
          </p:cNvPr>
          <p:cNvSpPr/>
          <p:nvPr userDrawn="1"/>
        </p:nvSpPr>
        <p:spPr>
          <a:xfrm>
            <a:off x="-1032545" y="536525"/>
            <a:ext cx="370156" cy="370156"/>
          </a:xfrm>
          <a:prstGeom prst="rect">
            <a:avLst/>
          </a:prstGeom>
          <a:solidFill>
            <a:srgbClr val="F478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0" name="Rectangle 9">
            <a:extLst>
              <a:ext uri="{FF2B5EF4-FFF2-40B4-BE49-F238E27FC236}">
                <a16:creationId xmlns:a16="http://schemas.microsoft.com/office/drawing/2014/main" id="{9B99664A-6CCE-9284-3B3B-A546102D197B}"/>
              </a:ext>
            </a:extLst>
          </p:cNvPr>
          <p:cNvSpPr/>
          <p:nvPr userDrawn="1"/>
        </p:nvSpPr>
        <p:spPr>
          <a:xfrm>
            <a:off x="-577461" y="536525"/>
            <a:ext cx="370156" cy="370156"/>
          </a:xfrm>
          <a:prstGeom prst="rect">
            <a:avLst/>
          </a:prstGeom>
          <a:solidFill>
            <a:srgbClr val="FBB2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1" name="Rectangle 10">
            <a:extLst>
              <a:ext uri="{FF2B5EF4-FFF2-40B4-BE49-F238E27FC236}">
                <a16:creationId xmlns:a16="http://schemas.microsoft.com/office/drawing/2014/main" id="{F8DA798E-ECE7-A900-BDAE-84B25A6A3B84}"/>
              </a:ext>
            </a:extLst>
          </p:cNvPr>
          <p:cNvSpPr/>
          <p:nvPr userDrawn="1"/>
        </p:nvSpPr>
        <p:spPr>
          <a:xfrm>
            <a:off x="-1032545" y="998088"/>
            <a:ext cx="370156" cy="370156"/>
          </a:xfrm>
          <a:prstGeom prst="rect">
            <a:avLst/>
          </a:prstGeom>
          <a:solidFill>
            <a:srgbClr val="1D4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2" name="Rectangle 11">
            <a:extLst>
              <a:ext uri="{FF2B5EF4-FFF2-40B4-BE49-F238E27FC236}">
                <a16:creationId xmlns:a16="http://schemas.microsoft.com/office/drawing/2014/main" id="{B9013C2B-B3A2-F923-1B44-E6FD2E1A3D81}"/>
              </a:ext>
            </a:extLst>
          </p:cNvPr>
          <p:cNvSpPr/>
          <p:nvPr userDrawn="1"/>
        </p:nvSpPr>
        <p:spPr>
          <a:xfrm>
            <a:off x="-577461" y="998088"/>
            <a:ext cx="370156" cy="370156"/>
          </a:xfrm>
          <a:prstGeom prst="rect">
            <a:avLst/>
          </a:prstGeom>
          <a:solidFill>
            <a:srgbClr val="D818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Tree>
    <p:extLst>
      <p:ext uri="{BB962C8B-B14F-4D97-AF65-F5344CB8AC3E}">
        <p14:creationId xmlns:p14="http://schemas.microsoft.com/office/powerpoint/2010/main" val="407628502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15" userDrawn="1">
          <p15:clr>
            <a:srgbClr val="F26B43"/>
          </p15:clr>
        </p15:guide>
        <p15:guide id="2" pos="21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C3B202DC-F0A3-4E92-8041-0496E7288B33}" type="datetimeFigureOut">
              <a:rPr lang="en-IN" smtClean="0"/>
              <a:t>29-06-2026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6DBDAB67-ABCD-49F0-8625-BA4ECE077FD6}" type="slidenum">
              <a:rPr lang="en-IN" smtClean="0"/>
              <a:t>‹#›</a:t>
            </a:fld>
            <a:endParaRPr lang="en-IN"/>
          </a:p>
        </p:txBody>
      </p:sp>
      <p:sp>
        <p:nvSpPr>
          <p:cNvPr id="7" name="Shape 0">
            <a:extLst>
              <a:ext uri="{FF2B5EF4-FFF2-40B4-BE49-F238E27FC236}">
                <a16:creationId xmlns:a16="http://schemas.microsoft.com/office/drawing/2014/main" id="{F6C95A0C-395F-931A-DE9A-E11917DB2B15}"/>
              </a:ext>
            </a:extLst>
          </p:cNvPr>
          <p:cNvSpPr/>
          <p:nvPr userDrawn="1"/>
        </p:nvSpPr>
        <p:spPr>
          <a:xfrm>
            <a:off x="0" y="-2107"/>
            <a:ext cx="9144000" cy="680386"/>
          </a:xfrm>
          <a:prstGeom prst="rect">
            <a:avLst/>
          </a:prstGeom>
          <a:solidFill>
            <a:srgbClr val="0E284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1">
            <a:extLst>
              <a:ext uri="{FF2B5EF4-FFF2-40B4-BE49-F238E27FC236}">
                <a16:creationId xmlns:a16="http://schemas.microsoft.com/office/drawing/2014/main" id="{69CF750D-096C-F037-9691-EEA44AECFC9D}"/>
              </a:ext>
            </a:extLst>
          </p:cNvPr>
          <p:cNvSpPr/>
          <p:nvPr userDrawn="1"/>
        </p:nvSpPr>
        <p:spPr>
          <a:xfrm>
            <a:off x="7200900" y="-2107"/>
            <a:ext cx="1943100" cy="678277"/>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DE9A5C1B-C559-7504-75C9-B14CD7D9239C}"/>
              </a:ext>
            </a:extLst>
          </p:cNvPr>
          <p:cNvSpPr/>
          <p:nvPr userDrawn="1"/>
        </p:nvSpPr>
        <p:spPr>
          <a:xfrm rot="1680000">
            <a:off x="5906688" y="-119171"/>
            <a:ext cx="292608" cy="940737"/>
          </a:xfrm>
          <a:custGeom>
            <a:avLst/>
            <a:gdLst>
              <a:gd name="csX0" fmla="*/ 0 w 292608"/>
              <a:gd name="csY0" fmla="*/ 155582 h 940737"/>
              <a:gd name="csX1" fmla="*/ 292608 w 292608"/>
              <a:gd name="csY1" fmla="*/ 0 h 940737"/>
              <a:gd name="csX2" fmla="*/ 292608 w 292608"/>
              <a:gd name="csY2" fmla="*/ 785155 h 940737"/>
              <a:gd name="csX3" fmla="*/ 0 w 292608"/>
              <a:gd name="csY3" fmla="*/ 940737 h 940737"/>
            </a:gdLst>
            <a:ahLst/>
            <a:cxnLst>
              <a:cxn ang="0">
                <a:pos x="csX0" y="csY0"/>
              </a:cxn>
              <a:cxn ang="0">
                <a:pos x="csX1" y="csY1"/>
              </a:cxn>
              <a:cxn ang="0">
                <a:pos x="csX2" y="csY2"/>
              </a:cxn>
              <a:cxn ang="0">
                <a:pos x="csX3" y="csY3"/>
              </a:cxn>
            </a:cxnLst>
            <a:rect l="l" t="t" r="r" b="b"/>
            <a:pathLst>
              <a:path w="292608" h="940737">
                <a:moveTo>
                  <a:pt x="0" y="155582"/>
                </a:moveTo>
                <a:lnTo>
                  <a:pt x="292608" y="0"/>
                </a:lnTo>
                <a:lnTo>
                  <a:pt x="292608" y="785155"/>
                </a:lnTo>
                <a:lnTo>
                  <a:pt x="0" y="940737"/>
                </a:lnTo>
                <a:close/>
              </a:path>
            </a:pathLst>
          </a:custGeom>
          <a:solidFill>
            <a:srgbClr val="0A1E30"/>
          </a:solidFill>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33B234FB-6FF0-3A0A-E1F7-366CD8E78AB4}"/>
              </a:ext>
            </a:extLst>
          </p:cNvPr>
          <p:cNvSpPr/>
          <p:nvPr userDrawn="1"/>
        </p:nvSpPr>
        <p:spPr>
          <a:xfrm rot="1680000">
            <a:off x="6088933" y="-72825"/>
            <a:ext cx="118872" cy="845665"/>
          </a:xfrm>
          <a:custGeom>
            <a:avLst/>
            <a:gdLst>
              <a:gd name="csX0" fmla="*/ 0 w 118872"/>
              <a:gd name="csY0" fmla="*/ 63205 h 845665"/>
              <a:gd name="csX1" fmla="*/ 118872 w 118872"/>
              <a:gd name="csY1" fmla="*/ 0 h 845665"/>
              <a:gd name="csX2" fmla="*/ 118872 w 118872"/>
              <a:gd name="csY2" fmla="*/ 782459 h 845665"/>
              <a:gd name="csX3" fmla="*/ 0 w 118872"/>
              <a:gd name="csY3" fmla="*/ 845665 h 845665"/>
            </a:gdLst>
            <a:ahLst/>
            <a:cxnLst>
              <a:cxn ang="0">
                <a:pos x="csX0" y="csY0"/>
              </a:cxn>
              <a:cxn ang="0">
                <a:pos x="csX1" y="csY1"/>
              </a:cxn>
              <a:cxn ang="0">
                <a:pos x="csX2" y="csY2"/>
              </a:cxn>
              <a:cxn ang="0">
                <a:pos x="csX3" y="csY3"/>
              </a:cxn>
            </a:cxnLst>
            <a:rect l="l" t="t" r="r" b="b"/>
            <a:pathLst>
              <a:path w="118872" h="845665">
                <a:moveTo>
                  <a:pt x="0" y="63205"/>
                </a:moveTo>
                <a:lnTo>
                  <a:pt x="118872" y="0"/>
                </a:lnTo>
                <a:lnTo>
                  <a:pt x="118872" y="782459"/>
                </a:lnTo>
                <a:lnTo>
                  <a:pt x="0" y="845665"/>
                </a:lnTo>
                <a:close/>
              </a:path>
            </a:pathLst>
          </a:custGeom>
          <a:solidFill>
            <a:srgbClr val="156082"/>
          </a:solidFill>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6F711065-0ED3-C5B5-1D23-400FA9F422E6}"/>
              </a:ext>
            </a:extLst>
          </p:cNvPr>
          <p:cNvSpPr/>
          <p:nvPr userDrawn="1"/>
        </p:nvSpPr>
        <p:spPr>
          <a:xfrm rot="1680000">
            <a:off x="6221381" y="-139466"/>
            <a:ext cx="347472" cy="986093"/>
          </a:xfrm>
          <a:custGeom>
            <a:avLst/>
            <a:gdLst>
              <a:gd name="csX0" fmla="*/ 0 w 347472"/>
              <a:gd name="csY0" fmla="*/ 184754 h 986093"/>
              <a:gd name="csX1" fmla="*/ 347472 w 347472"/>
              <a:gd name="csY1" fmla="*/ 0 h 986093"/>
              <a:gd name="csX2" fmla="*/ 347472 w 347472"/>
              <a:gd name="csY2" fmla="*/ 801339 h 986093"/>
              <a:gd name="csX3" fmla="*/ 0 w 347472"/>
              <a:gd name="csY3" fmla="*/ 986093 h 986093"/>
            </a:gdLst>
            <a:ahLst/>
            <a:cxnLst>
              <a:cxn ang="0">
                <a:pos x="csX0" y="csY0"/>
              </a:cxn>
              <a:cxn ang="0">
                <a:pos x="csX1" y="csY1"/>
              </a:cxn>
              <a:cxn ang="0">
                <a:pos x="csX2" y="csY2"/>
              </a:cxn>
              <a:cxn ang="0">
                <a:pos x="csX3" y="csY3"/>
              </a:cxn>
            </a:cxnLst>
            <a:rect l="l" t="t" r="r" b="b"/>
            <a:pathLst>
              <a:path w="347472" h="986093">
                <a:moveTo>
                  <a:pt x="0" y="184754"/>
                </a:moveTo>
                <a:lnTo>
                  <a:pt x="347472" y="0"/>
                </a:lnTo>
                <a:lnTo>
                  <a:pt x="347472" y="801339"/>
                </a:lnTo>
                <a:lnTo>
                  <a:pt x="0" y="986093"/>
                </a:lnTo>
                <a:close/>
              </a:path>
            </a:pathLst>
          </a:custGeom>
          <a:solidFill>
            <a:srgbClr val="E97132"/>
          </a:solidFill>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7">
            <a:extLst>
              <a:ext uri="{FF2B5EF4-FFF2-40B4-BE49-F238E27FC236}">
                <a16:creationId xmlns:a16="http://schemas.microsoft.com/office/drawing/2014/main" id="{A4F2A3B3-43E3-97BE-7AF1-47219456A751}"/>
              </a:ext>
            </a:extLst>
          </p:cNvPr>
          <p:cNvSpPr/>
          <p:nvPr userDrawn="1"/>
        </p:nvSpPr>
        <p:spPr>
          <a:xfrm>
            <a:off x="0" y="676170"/>
            <a:ext cx="9144000" cy="36576"/>
          </a:xfrm>
          <a:prstGeom prst="rect">
            <a:avLst/>
          </a:prstGeom>
          <a:solidFill>
            <a:srgbClr val="E9713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Picture 13" descr="PPSU">
            <a:extLst>
              <a:ext uri="{FF2B5EF4-FFF2-40B4-BE49-F238E27FC236}">
                <a16:creationId xmlns:a16="http://schemas.microsoft.com/office/drawing/2014/main" id="{05D97377-9DD4-3C72-E4A3-781CA7F6EFA3}"/>
              </a:ext>
            </a:extLst>
          </p:cNvPr>
          <p:cNvPicPr>
            <a:picLocks noChangeAspect="1"/>
          </p:cNvPicPr>
          <p:nvPr userDrawn="1"/>
        </p:nvPicPr>
        <p:blipFill>
          <a:blip r:embed="rId13"/>
          <a:stretch>
            <a:fillRect/>
          </a:stretch>
        </p:blipFill>
        <p:spPr>
          <a:xfrm>
            <a:off x="7387030" y="168778"/>
            <a:ext cx="1589890" cy="336505"/>
          </a:xfrm>
          <a:prstGeom prst="rect">
            <a:avLst/>
          </a:prstGeom>
        </p:spPr>
      </p:pic>
      <p:sp>
        <p:nvSpPr>
          <p:cNvPr id="13" name="Rectangle 12">
            <a:extLst>
              <a:ext uri="{FF2B5EF4-FFF2-40B4-BE49-F238E27FC236}">
                <a16:creationId xmlns:a16="http://schemas.microsoft.com/office/drawing/2014/main" id="{0DADF602-AEF2-033D-5F82-8A591FA19122}"/>
              </a:ext>
            </a:extLst>
          </p:cNvPr>
          <p:cNvSpPr/>
          <p:nvPr userDrawn="1"/>
        </p:nvSpPr>
        <p:spPr>
          <a:xfrm>
            <a:off x="-1032545" y="74964"/>
            <a:ext cx="370156" cy="370156"/>
          </a:xfrm>
          <a:prstGeom prst="rect">
            <a:avLst/>
          </a:prstGeom>
          <a:solidFill>
            <a:srgbClr val="F04B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5" name="Rectangle 14">
            <a:extLst>
              <a:ext uri="{FF2B5EF4-FFF2-40B4-BE49-F238E27FC236}">
                <a16:creationId xmlns:a16="http://schemas.microsoft.com/office/drawing/2014/main" id="{C2E4301E-7529-25ED-68CB-E502379E85C5}"/>
              </a:ext>
            </a:extLst>
          </p:cNvPr>
          <p:cNvSpPr/>
          <p:nvPr userDrawn="1"/>
        </p:nvSpPr>
        <p:spPr>
          <a:xfrm>
            <a:off x="-577461" y="74964"/>
            <a:ext cx="370156" cy="370156"/>
          </a:xfrm>
          <a:prstGeom prst="rect">
            <a:avLst/>
          </a:prstGeom>
          <a:solidFill>
            <a:srgbClr val="B311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6" name="Rectangle 15">
            <a:extLst>
              <a:ext uri="{FF2B5EF4-FFF2-40B4-BE49-F238E27FC236}">
                <a16:creationId xmlns:a16="http://schemas.microsoft.com/office/drawing/2014/main" id="{29D2387E-5CA4-B270-8D8C-2C49A3678D86}"/>
              </a:ext>
            </a:extLst>
          </p:cNvPr>
          <p:cNvSpPr/>
          <p:nvPr userDrawn="1"/>
        </p:nvSpPr>
        <p:spPr>
          <a:xfrm>
            <a:off x="-1032545" y="536525"/>
            <a:ext cx="370156" cy="370156"/>
          </a:xfrm>
          <a:prstGeom prst="rect">
            <a:avLst/>
          </a:prstGeom>
          <a:solidFill>
            <a:srgbClr val="F478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7" name="Rectangle 16">
            <a:extLst>
              <a:ext uri="{FF2B5EF4-FFF2-40B4-BE49-F238E27FC236}">
                <a16:creationId xmlns:a16="http://schemas.microsoft.com/office/drawing/2014/main" id="{C01FE48E-34E9-D320-90E5-F168B7EF1A5D}"/>
              </a:ext>
            </a:extLst>
          </p:cNvPr>
          <p:cNvSpPr/>
          <p:nvPr userDrawn="1"/>
        </p:nvSpPr>
        <p:spPr>
          <a:xfrm>
            <a:off x="-577461" y="536525"/>
            <a:ext cx="370156" cy="370156"/>
          </a:xfrm>
          <a:prstGeom prst="rect">
            <a:avLst/>
          </a:prstGeom>
          <a:solidFill>
            <a:srgbClr val="FBB2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8" name="Rectangle 17">
            <a:extLst>
              <a:ext uri="{FF2B5EF4-FFF2-40B4-BE49-F238E27FC236}">
                <a16:creationId xmlns:a16="http://schemas.microsoft.com/office/drawing/2014/main" id="{B268C68E-7496-4A4A-7319-E3739665E333}"/>
              </a:ext>
            </a:extLst>
          </p:cNvPr>
          <p:cNvSpPr/>
          <p:nvPr userDrawn="1"/>
        </p:nvSpPr>
        <p:spPr>
          <a:xfrm>
            <a:off x="-1032545" y="998088"/>
            <a:ext cx="370156" cy="370156"/>
          </a:xfrm>
          <a:prstGeom prst="rect">
            <a:avLst/>
          </a:prstGeom>
          <a:solidFill>
            <a:srgbClr val="1D4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9" name="Rectangle 18">
            <a:extLst>
              <a:ext uri="{FF2B5EF4-FFF2-40B4-BE49-F238E27FC236}">
                <a16:creationId xmlns:a16="http://schemas.microsoft.com/office/drawing/2014/main" id="{DA5E0B7F-C775-9C28-08BB-BE83257F6C8C}"/>
              </a:ext>
            </a:extLst>
          </p:cNvPr>
          <p:cNvSpPr/>
          <p:nvPr userDrawn="1"/>
        </p:nvSpPr>
        <p:spPr>
          <a:xfrm>
            <a:off x="-577461" y="998088"/>
            <a:ext cx="370156" cy="370156"/>
          </a:xfrm>
          <a:prstGeom prst="rect">
            <a:avLst/>
          </a:prstGeom>
          <a:solidFill>
            <a:srgbClr val="D818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Tree>
    <p:extLst>
      <p:ext uri="{BB962C8B-B14F-4D97-AF65-F5344CB8AC3E}">
        <p14:creationId xmlns:p14="http://schemas.microsoft.com/office/powerpoint/2010/main" val="371395292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13" userDrawn="1">
          <p15:clr>
            <a:srgbClr val="F26B43"/>
          </p15:clr>
        </p15:guide>
        <p15:guide id="2" pos="249" userDrawn="1">
          <p15:clr>
            <a:srgbClr val="F26B43"/>
          </p15:clr>
        </p15:guide>
        <p15:guide id="3" pos="2880" userDrawn="1">
          <p15:clr>
            <a:srgbClr val="F26B43"/>
          </p15:clr>
        </p15:guide>
        <p15:guide id="4" pos="551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E2841"/>
          </a:solidFill>
          <a:ln/>
        </p:spPr>
        <p:txBody>
          <a:bodyPr/>
          <a:lstStyle/>
          <a:p>
            <a:pPr defTabSz="914357"/>
            <a:endParaRPr lang="en-IN" sz="1800" dirty="0">
              <a:solidFill>
                <a:prstClr val="black"/>
              </a:solidFill>
              <a:latin typeface="Calibri" panose="020F0502020204030204"/>
            </a:endParaRPr>
          </a:p>
        </p:txBody>
      </p:sp>
      <p:sp>
        <p:nvSpPr>
          <p:cNvPr id="3" name="Shape 1"/>
          <p:cNvSpPr/>
          <p:nvPr/>
        </p:nvSpPr>
        <p:spPr>
          <a:xfrm>
            <a:off x="3456432" y="1"/>
            <a:ext cx="50292" cy="5143501"/>
          </a:xfrm>
          <a:prstGeom prst="rect">
            <a:avLst/>
          </a:prstGeom>
          <a:solidFill>
            <a:srgbClr val="E97132"/>
          </a:solidFill>
          <a:ln/>
        </p:spPr>
        <p:txBody>
          <a:bodyPr/>
          <a:lstStyle/>
          <a:p>
            <a:pPr defTabSz="914357"/>
            <a:endParaRPr lang="en-IN" sz="1800">
              <a:solidFill>
                <a:prstClr val="black"/>
              </a:solidFill>
              <a:latin typeface="Calibri" panose="020F0502020204030204"/>
            </a:endParaRPr>
          </a:p>
        </p:txBody>
      </p:sp>
      <p:pic>
        <p:nvPicPr>
          <p:cNvPr id="4" name="Image 0"/>
          <p:cNvPicPr>
            <a:picLocks noChangeAspect="1"/>
          </p:cNvPicPr>
          <p:nvPr/>
        </p:nvPicPr>
        <p:blipFill>
          <a:blip r:embed="rId3">
            <a:extLst>
              <a:ext uri="{28A0092B-C50C-407E-A947-70E740481C1C}">
                <a14:useLocalDpi xmlns:a14="http://schemas.microsoft.com/office/drawing/2010/main" val="0"/>
              </a:ext>
            </a:extLst>
          </a:blip>
          <a:srcRect/>
          <a:stretch/>
        </p:blipFill>
        <p:spPr>
          <a:xfrm>
            <a:off x="3507088" y="0"/>
            <a:ext cx="5636912" cy="3759777"/>
          </a:xfrm>
          <a:prstGeom prst="rect">
            <a:avLst/>
          </a:prstGeom>
        </p:spPr>
      </p:pic>
      <p:sp>
        <p:nvSpPr>
          <p:cNvPr id="5" name="Shape 2"/>
          <p:cNvSpPr/>
          <p:nvPr/>
        </p:nvSpPr>
        <p:spPr>
          <a:xfrm>
            <a:off x="3482660" y="2663793"/>
            <a:ext cx="5668198" cy="2491740"/>
          </a:xfrm>
          <a:prstGeom prst="rect">
            <a:avLst/>
          </a:prstGeom>
          <a:solidFill>
            <a:srgbClr val="F4F7FA"/>
          </a:solidFill>
          <a:ln/>
        </p:spPr>
        <p:txBody>
          <a:bodyPr/>
          <a:lstStyle/>
          <a:p>
            <a:pPr defTabSz="914357"/>
            <a:endParaRPr lang="en-IN" sz="1800" dirty="0">
              <a:solidFill>
                <a:prstClr val="black"/>
              </a:solidFill>
              <a:latin typeface="Calibri" panose="020F0502020204030204"/>
            </a:endParaRPr>
          </a:p>
        </p:txBody>
      </p:sp>
      <p:sp>
        <p:nvSpPr>
          <p:cNvPr id="6" name="Shape 3"/>
          <p:cNvSpPr/>
          <p:nvPr/>
        </p:nvSpPr>
        <p:spPr>
          <a:xfrm>
            <a:off x="3482660" y="2654647"/>
            <a:ext cx="5668198" cy="71687"/>
          </a:xfrm>
          <a:prstGeom prst="rect">
            <a:avLst/>
          </a:prstGeom>
          <a:solidFill>
            <a:srgbClr val="E97132"/>
          </a:solidFill>
          <a:ln/>
        </p:spPr>
        <p:txBody>
          <a:bodyPr/>
          <a:lstStyle/>
          <a:p>
            <a:pPr defTabSz="914357"/>
            <a:endParaRPr lang="en-IN" sz="1800">
              <a:solidFill>
                <a:prstClr val="black"/>
              </a:solidFill>
              <a:latin typeface="Calibri" panose="020F0502020204030204"/>
            </a:endParaRPr>
          </a:p>
        </p:txBody>
      </p:sp>
      <p:sp>
        <p:nvSpPr>
          <p:cNvPr id="7" name="Text 4"/>
          <p:cNvSpPr/>
          <p:nvPr/>
        </p:nvSpPr>
        <p:spPr>
          <a:xfrm>
            <a:off x="292608" y="347473"/>
            <a:ext cx="3017520" cy="868679"/>
          </a:xfrm>
          <a:prstGeom prst="rect">
            <a:avLst/>
          </a:prstGeom>
          <a:noFill/>
          <a:ln/>
        </p:spPr>
        <p:txBody>
          <a:bodyPr wrap="square" lIns="0" tIns="0" rIns="0" bIns="0" rtlCol="0" anchor="t"/>
          <a:lstStyle/>
          <a:p>
            <a:pPr defTabSz="914357">
              <a:defRPr/>
            </a:pPr>
            <a:r>
              <a:rPr lang="en-US" sz="3600" b="1" kern="0" spc="300" dirty="0">
                <a:solidFill>
                  <a:srgbClr val="FFFFFF"/>
                </a:solidFill>
                <a:latin typeface="Calibri" pitchFamily="34" charset="0"/>
                <a:ea typeface="Calibri" pitchFamily="34" charset="-122"/>
                <a:cs typeface="Calibri" pitchFamily="34" charset="-120"/>
              </a:rPr>
              <a:t>PP SAVANI</a:t>
            </a:r>
            <a:endParaRPr lang="en-US" sz="3600" dirty="0">
              <a:solidFill>
                <a:prstClr val="black"/>
              </a:solidFill>
              <a:latin typeface="Calibri" panose="020F0502020204030204"/>
            </a:endParaRPr>
          </a:p>
          <a:p>
            <a:pPr defTabSz="914357">
              <a:defRPr/>
            </a:pPr>
            <a:r>
              <a:rPr lang="en-US" sz="2000" kern="0" spc="500" dirty="0">
                <a:solidFill>
                  <a:schemeClr val="bg1"/>
                </a:solidFill>
                <a:latin typeface="Calibri" pitchFamily="34" charset="0"/>
                <a:ea typeface="Calibri" pitchFamily="34" charset="-122"/>
                <a:cs typeface="Calibri" pitchFamily="34" charset="-120"/>
              </a:rPr>
              <a:t>UNIVERSITY</a:t>
            </a:r>
            <a:endParaRPr lang="en-US" sz="3600" dirty="0">
              <a:solidFill>
                <a:schemeClr val="bg1"/>
              </a:solidFill>
              <a:latin typeface="Calibri" panose="020F0502020204030204"/>
            </a:endParaRPr>
          </a:p>
        </p:txBody>
      </p:sp>
      <p:sp>
        <p:nvSpPr>
          <p:cNvPr id="8" name="Shape 5"/>
          <p:cNvSpPr/>
          <p:nvPr/>
        </p:nvSpPr>
        <p:spPr>
          <a:xfrm>
            <a:off x="222297" y="2128145"/>
            <a:ext cx="2967226" cy="45719"/>
          </a:xfrm>
          <a:prstGeom prst="rect">
            <a:avLst/>
          </a:prstGeom>
          <a:solidFill>
            <a:srgbClr val="156082"/>
          </a:solidFill>
          <a:ln/>
        </p:spPr>
        <p:txBody>
          <a:bodyPr/>
          <a:lstStyle/>
          <a:p>
            <a:pPr defTabSz="914357"/>
            <a:endParaRPr lang="en-IN" sz="1800">
              <a:solidFill>
                <a:prstClr val="black"/>
              </a:solidFill>
              <a:latin typeface="Calibri" panose="020F0502020204030204"/>
            </a:endParaRPr>
          </a:p>
        </p:txBody>
      </p:sp>
      <p:pic>
        <p:nvPicPr>
          <p:cNvPr id="16" name="Picture 15" descr="PPSU">
            <a:extLst>
              <a:ext uri="{FF2B5EF4-FFF2-40B4-BE49-F238E27FC236}">
                <a16:creationId xmlns:a16="http://schemas.microsoft.com/office/drawing/2014/main" id="{03D2D6CC-759E-93A2-BF99-1F255DDA9243}"/>
              </a:ext>
            </a:extLst>
          </p:cNvPr>
          <p:cNvPicPr>
            <a:picLocks noChangeAspect="1"/>
          </p:cNvPicPr>
          <p:nvPr/>
        </p:nvPicPr>
        <p:blipFill>
          <a:blip r:embed="rId4"/>
          <a:stretch>
            <a:fillRect/>
          </a:stretch>
        </p:blipFill>
        <p:spPr>
          <a:xfrm>
            <a:off x="7482786" y="72136"/>
            <a:ext cx="1589890" cy="336505"/>
          </a:xfrm>
          <a:prstGeom prst="rect">
            <a:avLst/>
          </a:prstGeom>
        </p:spPr>
      </p:pic>
      <p:sp>
        <p:nvSpPr>
          <p:cNvPr id="22" name="Shape 4">
            <a:extLst>
              <a:ext uri="{FF2B5EF4-FFF2-40B4-BE49-F238E27FC236}">
                <a16:creationId xmlns:a16="http://schemas.microsoft.com/office/drawing/2014/main" id="{BD4B1A18-13C9-A00C-7E6A-83B4A45638B6}"/>
              </a:ext>
            </a:extLst>
          </p:cNvPr>
          <p:cNvSpPr/>
          <p:nvPr/>
        </p:nvSpPr>
        <p:spPr>
          <a:xfrm>
            <a:off x="229684" y="3305461"/>
            <a:ext cx="2967227" cy="549818"/>
          </a:xfrm>
          <a:prstGeom prst="roundRect">
            <a:avLst>
              <a:gd name="adj" fmla="val 15625"/>
            </a:avLst>
          </a:prstGeom>
          <a:solidFill>
            <a:srgbClr val="FBB217"/>
          </a:solidFill>
          <a:ln/>
        </p:spPr>
        <p:txBody>
          <a:bodyPr/>
          <a:lstStyle/>
          <a:p>
            <a:pPr algn="ctr" defTabSz="914357"/>
            <a:r>
              <a:rPr lang="en-US" sz="2400" b="1" kern="0" spc="150" dirty="0">
                <a:solidFill>
                  <a:srgbClr val="FFFFFF"/>
                </a:solidFill>
                <a:latin typeface="Calibri" pitchFamily="34" charset="0"/>
                <a:ea typeface="Calibri" pitchFamily="34" charset="-122"/>
                <a:cs typeface="Calibri" pitchFamily="34" charset="-120"/>
              </a:rPr>
              <a:t>MBA SEMESTER (I)</a:t>
            </a:r>
            <a:endParaRPr lang="en-US" sz="2400" dirty="0">
              <a:solidFill>
                <a:prstClr val="black"/>
              </a:solidFill>
              <a:latin typeface="Calibri" panose="020F0502020204030204"/>
            </a:endParaRPr>
          </a:p>
        </p:txBody>
      </p:sp>
      <p:sp>
        <p:nvSpPr>
          <p:cNvPr id="24" name="Text 8">
            <a:extLst>
              <a:ext uri="{FF2B5EF4-FFF2-40B4-BE49-F238E27FC236}">
                <a16:creationId xmlns:a16="http://schemas.microsoft.com/office/drawing/2014/main" id="{3E37F5B4-6DEE-596B-19D6-4210D657B592}"/>
              </a:ext>
            </a:extLst>
          </p:cNvPr>
          <p:cNvSpPr/>
          <p:nvPr/>
        </p:nvSpPr>
        <p:spPr>
          <a:xfrm>
            <a:off x="3768046" y="3586253"/>
            <a:ext cx="5304629" cy="373693"/>
          </a:xfrm>
          <a:prstGeom prst="rect">
            <a:avLst/>
          </a:prstGeom>
          <a:noFill/>
          <a:ln/>
        </p:spPr>
        <p:txBody>
          <a:bodyPr wrap="square" lIns="0" tIns="0" rIns="0" bIns="0" rtlCol="0" anchor="t"/>
          <a:lstStyle/>
          <a:p>
            <a:pPr defTabSz="914357"/>
            <a:r>
              <a:rPr lang="en-US" sz="2000" b="1" i="1" dirty="0">
                <a:solidFill>
                  <a:srgbClr val="B31115"/>
                </a:solidFill>
                <a:latin typeface="Calibri" pitchFamily="34" charset="0"/>
                <a:ea typeface="Calibri" pitchFamily="34" charset="-122"/>
                <a:cs typeface="Calibri" pitchFamily="34" charset="-120"/>
              </a:rPr>
              <a:t>Unit 11.1: Concept of Marginal Costing</a:t>
            </a:r>
            <a:endParaRPr lang="en-US" sz="2000" b="1" dirty="0">
              <a:solidFill>
                <a:srgbClr val="B31115"/>
              </a:solidFill>
              <a:latin typeface="Calibri" panose="020F0502020204030204"/>
            </a:endParaRPr>
          </a:p>
        </p:txBody>
      </p:sp>
      <p:sp>
        <p:nvSpPr>
          <p:cNvPr id="26" name="Rectangle 25">
            <a:extLst>
              <a:ext uri="{FF2B5EF4-FFF2-40B4-BE49-F238E27FC236}">
                <a16:creationId xmlns:a16="http://schemas.microsoft.com/office/drawing/2014/main" id="{4B49AAD4-9E96-A645-621D-A7B717295C70}"/>
              </a:ext>
            </a:extLst>
          </p:cNvPr>
          <p:cNvSpPr/>
          <p:nvPr/>
        </p:nvSpPr>
        <p:spPr>
          <a:xfrm>
            <a:off x="3517399" y="2860330"/>
            <a:ext cx="5013167" cy="461665"/>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defTabSz="914357"/>
            <a:r>
              <a:rPr lang="en-US" sz="2400" b="1">
                <a:ln/>
                <a:solidFill>
                  <a:srgbClr val="0E2841"/>
                </a:solidFill>
              </a:rPr>
              <a:t>ACCOUNTING FOR DECISION-MAKING</a:t>
            </a:r>
            <a:endParaRPr lang="en-US" sz="2400" b="1" dirty="0">
              <a:ln/>
              <a:solidFill>
                <a:srgbClr val="0E2841"/>
              </a:solidFill>
            </a:endParaRPr>
          </a:p>
        </p:txBody>
      </p:sp>
      <p:sp>
        <p:nvSpPr>
          <p:cNvPr id="29" name="Arrow: Pentagon 28">
            <a:extLst>
              <a:ext uri="{FF2B5EF4-FFF2-40B4-BE49-F238E27FC236}">
                <a16:creationId xmlns:a16="http://schemas.microsoft.com/office/drawing/2014/main" id="{DF2F79E0-EC9D-0D69-0220-7E93F6047B00}"/>
              </a:ext>
            </a:extLst>
          </p:cNvPr>
          <p:cNvSpPr/>
          <p:nvPr/>
        </p:nvSpPr>
        <p:spPr>
          <a:xfrm>
            <a:off x="3794745" y="4281616"/>
            <a:ext cx="1977775" cy="552248"/>
          </a:xfrm>
          <a:prstGeom prst="homePlate">
            <a:avLst/>
          </a:prstGeom>
          <a:solidFill>
            <a:srgbClr val="0E284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1" bIns="72000" rtlCol="0" anchor="ctr"/>
          <a:lstStyle/>
          <a:p>
            <a:pPr defTabSz="914357"/>
            <a:r>
              <a:rPr lang="en-US" sz="1400" b="1" dirty="0">
                <a:solidFill>
                  <a:prstClr val="white"/>
                </a:solidFill>
                <a:latin typeface="Calibri" pitchFamily="34" charset="0"/>
                <a:ea typeface="Calibri" pitchFamily="34" charset="-122"/>
                <a:cs typeface="Calibri" pitchFamily="34" charset="-120"/>
              </a:rPr>
              <a:t>Professor Name</a:t>
            </a:r>
          </a:p>
          <a:p>
            <a:pPr defTabSz="914357"/>
            <a:r>
              <a:rPr lang="en-US" sz="1200" b="1" dirty="0">
                <a:solidFill>
                  <a:prstClr val="white"/>
                </a:solidFill>
                <a:latin typeface="Calibri" pitchFamily="34" charset="0"/>
                <a:ea typeface="Calibri" pitchFamily="34" charset="-122"/>
                <a:cs typeface="Calibri" pitchFamily="34" charset="-120"/>
              </a:rPr>
              <a:t>Designation</a:t>
            </a:r>
            <a:endParaRPr lang="en-US" sz="1200" b="1" dirty="0">
              <a:solidFill>
                <a:prstClr val="white"/>
              </a:solidFill>
              <a:latin typeface="Calibri" panose="020F0502020204030204"/>
            </a:endParaRPr>
          </a:p>
        </p:txBody>
      </p:sp>
      <p:sp>
        <p:nvSpPr>
          <p:cNvPr id="9" name="Rectangle: Single Corner Snipped 8">
            <a:extLst>
              <a:ext uri="{FF2B5EF4-FFF2-40B4-BE49-F238E27FC236}">
                <a16:creationId xmlns:a16="http://schemas.microsoft.com/office/drawing/2014/main" id="{4563F3F3-61CF-E746-DAEF-AF3856938C3D}"/>
              </a:ext>
            </a:extLst>
          </p:cNvPr>
          <p:cNvSpPr/>
          <p:nvPr/>
        </p:nvSpPr>
        <p:spPr>
          <a:xfrm>
            <a:off x="292608" y="1352306"/>
            <a:ext cx="2364205" cy="639685"/>
          </a:xfrm>
          <a:prstGeom prst="snip1Rect">
            <a:avLst/>
          </a:prstGeom>
          <a:solidFill>
            <a:srgbClr val="1D4181"/>
          </a:solidFill>
          <a:ln>
            <a:noFill/>
          </a:ln>
        </p:spPr>
        <p:style>
          <a:lnRef idx="2">
            <a:schemeClr val="accent1">
              <a:shade val="15000"/>
            </a:schemeClr>
          </a:lnRef>
          <a:fillRef idx="1">
            <a:schemeClr val="accent1"/>
          </a:fillRef>
          <a:effectRef idx="0">
            <a:schemeClr val="accent1"/>
          </a:effectRef>
          <a:fontRef idx="minor">
            <a:schemeClr val="lt1"/>
          </a:fontRef>
        </p:style>
        <p:txBody>
          <a:bodyPr bIns="108000" rtlCol="0" anchor="ctr"/>
          <a:lstStyle/>
          <a:p>
            <a:pPr marL="0" marR="0" lvl="0" indent="0" algn="ctr" defTabSz="914357" rtl="0" eaLnBrk="1" fontAlgn="auto" latinLnBrk="0" hangingPunct="1">
              <a:lnSpc>
                <a:spcPct val="100000"/>
              </a:lnSpc>
              <a:spcBef>
                <a:spcPts val="0"/>
              </a:spcBef>
              <a:spcAft>
                <a:spcPts val="0"/>
              </a:spcAft>
              <a:buClr>
                <a:srgbClr val="000000"/>
              </a:buClr>
              <a:buSzPts val="1600"/>
              <a:buFontTx/>
              <a:buNone/>
              <a:tabLst/>
              <a:defRPr/>
            </a:pPr>
            <a:r>
              <a:rPr kumimoji="0" lang="en-US" sz="1400" b="1" i="0" u="none" strike="noStrike" kern="1200" cap="none" spc="0" normalizeH="0" baseline="0" noProof="0" dirty="0">
                <a:ln>
                  <a:noFill/>
                </a:ln>
                <a:solidFill>
                  <a:prstClr val="white"/>
                </a:solidFill>
                <a:effectLst/>
                <a:uLnTx/>
                <a:uFillTx/>
                <a:latin typeface="Calibri" panose="020F0502020204030204"/>
                <a:ea typeface="Arial"/>
                <a:cs typeface="Arial"/>
                <a:sym typeface="Arial"/>
              </a:rPr>
              <a:t>Centre for Distance and Online Education (CDOE)</a:t>
            </a:r>
            <a:endParaRPr kumimoji="0" lang="en-US" sz="1200" b="0" i="0" u="none" strike="noStrike" kern="1200" cap="none" spc="0" normalizeH="0" baseline="0" noProof="0" dirty="0">
              <a:ln>
                <a:noFill/>
              </a:ln>
              <a:solidFill>
                <a:srgbClr val="000000"/>
              </a:solidFill>
              <a:effectLst/>
              <a:uLnTx/>
              <a:uFillTx/>
              <a:latin typeface="Calibri" panose="020F0502020204030204"/>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p:bldP spid="2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8">
            <a:extLst>
              <a:ext uri="{FF2B5EF4-FFF2-40B4-BE49-F238E27FC236}">
                <a16:creationId xmlns:a16="http://schemas.microsoft.com/office/drawing/2014/main" id="{30007300-895B-52D1-9426-AB7A0D94B621}"/>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Introduction</a:t>
            </a:r>
          </a:p>
        </p:txBody>
      </p:sp>
      <p:sp>
        <p:nvSpPr>
          <p:cNvPr id="4" name="Rectangle: Rounded Corners 3">
            <a:extLst>
              <a:ext uri="{FF2B5EF4-FFF2-40B4-BE49-F238E27FC236}">
                <a16:creationId xmlns:a16="http://schemas.microsoft.com/office/drawing/2014/main" id="{A5D5F161-4775-F07C-76B2-F20CFBBEDFEB}"/>
              </a:ext>
            </a:extLst>
          </p:cNvPr>
          <p:cNvSpPr/>
          <p:nvPr/>
        </p:nvSpPr>
        <p:spPr>
          <a:xfrm>
            <a:off x="413331" y="1594520"/>
            <a:ext cx="4291012" cy="2220913"/>
          </a:xfrm>
          <a:prstGeom prst="roundRect">
            <a:avLst>
              <a:gd name="adj" fmla="val 5474"/>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Marginal costing provides a focused approach to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analysing</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cost behaviour and contribution, enabling organisations to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optimise</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pricing, production decisions, and resource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utilisation</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for improved profitability and strategic performance.</a:t>
            </a:r>
            <a:endPar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Rectangle: Rounded Corners 4">
            <a:extLst>
              <a:ext uri="{FF2B5EF4-FFF2-40B4-BE49-F238E27FC236}">
                <a16:creationId xmlns:a16="http://schemas.microsoft.com/office/drawing/2014/main" id="{65722867-455A-2E3C-1F68-338871971FC5}"/>
              </a:ext>
            </a:extLst>
          </p:cNvPr>
          <p:cNvSpPr/>
          <p:nvPr/>
        </p:nvSpPr>
        <p:spPr>
          <a:xfrm>
            <a:off x="6028735" y="1352550"/>
            <a:ext cx="2726757" cy="3271838"/>
          </a:xfrm>
          <a:prstGeom prst="roundRect">
            <a:avLst>
              <a:gd name="adj" fmla="val 7914"/>
            </a:avLst>
          </a:prstGeom>
          <a:solidFill>
            <a:srgbClr val="F47820"/>
          </a:solidFill>
          <a:ln cap="rnd">
            <a:solidFill>
              <a:srgbClr val="F47820"/>
            </a:solidFill>
          </a:ln>
          <a:effectLst>
            <a:softEdge rad="0"/>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91440" bIns="91440" numCol="1" spcCol="1270" rtlCol="0" anchor="ctr" anchorCtr="0">
            <a:noAutofit/>
          </a:bodyPr>
          <a:lstStyle/>
          <a:p>
            <a:pPr marL="0" indent="0" algn="ctr" defTabSz="1066800">
              <a:lnSpc>
                <a:spcPct val="90000"/>
              </a:lnSpc>
              <a:spcBef>
                <a:spcPct val="0"/>
              </a:spcBef>
              <a:spcAft>
                <a:spcPct val="35000"/>
              </a:spcAft>
              <a:buClr>
                <a:srgbClr val="008CCB"/>
              </a:buClr>
              <a:buFont typeface="Wingdings" panose="05000000000000000000" pitchFamily="2" charset="2"/>
              <a:buNone/>
            </a:pPr>
            <a:r>
              <a:rPr lang="en-GB" sz="2400" b="1" kern="1200" noProof="0" dirty="0">
                <a:latin typeface="+mn-lt"/>
              </a:rPr>
              <a:t>SME Place Holder</a:t>
            </a:r>
          </a:p>
        </p:txBody>
      </p:sp>
    </p:spTree>
    <p:extLst>
      <p:ext uri="{BB962C8B-B14F-4D97-AF65-F5344CB8AC3E}">
        <p14:creationId xmlns:p14="http://schemas.microsoft.com/office/powerpoint/2010/main" val="4279597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8">
            <a:extLst>
              <a:ext uri="{FF2B5EF4-FFF2-40B4-BE49-F238E27FC236}">
                <a16:creationId xmlns:a16="http://schemas.microsoft.com/office/drawing/2014/main" id="{625CBAD6-AEBE-9523-804F-81E54B12137C}"/>
              </a:ext>
            </a:extLst>
          </p:cNvPr>
          <p:cNvSpPr/>
          <p:nvPr/>
        </p:nvSpPr>
        <p:spPr>
          <a:xfrm>
            <a:off x="378920" y="123340"/>
            <a:ext cx="4457369" cy="40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Learning Objectives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Rectangle: Rounded Corners 2">
            <a:extLst>
              <a:ext uri="{FF2B5EF4-FFF2-40B4-BE49-F238E27FC236}">
                <a16:creationId xmlns:a16="http://schemas.microsoft.com/office/drawing/2014/main" id="{C138231F-3AEA-540C-740E-022FFFD11BDC}"/>
              </a:ext>
            </a:extLst>
          </p:cNvPr>
          <p:cNvSpPr/>
          <p:nvPr/>
        </p:nvSpPr>
        <p:spPr>
          <a:xfrm>
            <a:off x="6028735" y="1352550"/>
            <a:ext cx="2726757" cy="3271838"/>
          </a:xfrm>
          <a:prstGeom prst="roundRect">
            <a:avLst>
              <a:gd name="adj" fmla="val 7914"/>
            </a:avLst>
          </a:prstGeom>
          <a:solidFill>
            <a:srgbClr val="F47820"/>
          </a:solidFill>
          <a:ln cap="rnd">
            <a:solidFill>
              <a:srgbClr val="F47820"/>
            </a:solidFill>
          </a:ln>
          <a:effectLst>
            <a:softEdge rad="0"/>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91440" bIns="91440" numCol="1" spcCol="1270" rtlCol="0" anchor="ctr" anchorCtr="0">
            <a:noAutofit/>
          </a:bodyPr>
          <a:lstStyle/>
          <a:p>
            <a:pPr marL="0" indent="0" algn="ctr" defTabSz="1066800">
              <a:lnSpc>
                <a:spcPct val="90000"/>
              </a:lnSpc>
              <a:spcBef>
                <a:spcPct val="0"/>
              </a:spcBef>
              <a:spcAft>
                <a:spcPct val="35000"/>
              </a:spcAft>
              <a:buClr>
                <a:srgbClr val="008CCB"/>
              </a:buClr>
              <a:buFont typeface="Wingdings" panose="05000000000000000000" pitchFamily="2" charset="2"/>
              <a:buNone/>
            </a:pPr>
            <a:r>
              <a:rPr lang="en-GB" sz="2400" b="1" kern="1200" noProof="0" dirty="0">
                <a:latin typeface="+mn-lt"/>
              </a:rPr>
              <a:t>SME Place Holder</a:t>
            </a:r>
          </a:p>
        </p:txBody>
      </p:sp>
      <p:sp>
        <p:nvSpPr>
          <p:cNvPr id="5" name="TextBox 4">
            <a:extLst>
              <a:ext uri="{FF2B5EF4-FFF2-40B4-BE49-F238E27FC236}">
                <a16:creationId xmlns:a16="http://schemas.microsoft.com/office/drawing/2014/main" id="{123C79BD-B240-CBEF-19D5-9532DF9E8043}"/>
              </a:ext>
            </a:extLst>
          </p:cNvPr>
          <p:cNvSpPr txBox="1"/>
          <p:nvPr/>
        </p:nvSpPr>
        <p:spPr>
          <a:xfrm>
            <a:off x="395288" y="1591785"/>
            <a:ext cx="5273992" cy="153144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Explain the concept of marginal costing </a:t>
            </a:r>
          </a:p>
          <a:p>
            <a:pPr marL="285750" indent="-285750">
              <a:lnSpc>
                <a:spcPct val="150000"/>
              </a:lnSpc>
              <a:buFont typeface="Arial" panose="020B0604020202020204" pitchFamily="34" charset="0"/>
              <a:buChar char="•"/>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Differentiate absorption and marginal costing techniques </a:t>
            </a:r>
          </a:p>
          <a:p>
            <a:pPr marL="285750" indent="-285750">
              <a:lnSpc>
                <a:spcPct val="150000"/>
              </a:lnSpc>
              <a:buFont typeface="Arial" panose="020B0604020202020204" pitchFamily="34" charset="0"/>
              <a:buChar char="•"/>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Calculate marginal cost using variable components </a:t>
            </a:r>
          </a:p>
          <a:p>
            <a:pPr marL="285750" indent="-285750">
              <a:lnSpc>
                <a:spcPct val="150000"/>
              </a:lnSpc>
              <a:buFont typeface="Arial" panose="020B0604020202020204" pitchFamily="34" charset="0"/>
              <a:buChar char="•"/>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Examine managerial decisions using marginal costing</a:t>
            </a:r>
          </a:p>
        </p:txBody>
      </p:sp>
    </p:spTree>
    <p:extLst>
      <p:ext uri="{BB962C8B-B14F-4D97-AF65-F5344CB8AC3E}">
        <p14:creationId xmlns:p14="http://schemas.microsoft.com/office/powerpoint/2010/main" val="1724459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03A50-E775-19E6-072B-47F2AD7F848C}"/>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C2787949-256F-0F19-B6C6-E8F03962A27A}"/>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Marginal Costing</a:t>
            </a:r>
          </a:p>
        </p:txBody>
      </p:sp>
      <p:sp>
        <p:nvSpPr>
          <p:cNvPr id="6" name="TextBox 5">
            <a:extLst>
              <a:ext uri="{FF2B5EF4-FFF2-40B4-BE49-F238E27FC236}">
                <a16:creationId xmlns:a16="http://schemas.microsoft.com/office/drawing/2014/main" id="{2E679E9A-F12E-6566-056F-B595DEB5CA3F}"/>
              </a:ext>
            </a:extLst>
          </p:cNvPr>
          <p:cNvSpPr txBox="1"/>
          <p:nvPr/>
        </p:nvSpPr>
        <p:spPr>
          <a:xfrm rot="10800000" flipV="1">
            <a:off x="1199239" y="930843"/>
            <a:ext cx="5866578" cy="1808444"/>
          </a:xfrm>
          <a:prstGeom prst="rect">
            <a:avLst/>
          </a:prstGeom>
          <a:noFill/>
        </p:spPr>
        <p:txBody>
          <a:bodyPr wrap="square" lIns="0" tIns="0" rIns="0" bIns="0" rtlCol="0" anchor="t">
            <a:spAutoFit/>
          </a:bodyPr>
          <a:lstStyle/>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Used for managerial decision making</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Helps interpret cost data</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Measures profitability of products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Works with other costing methods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Based on cost behaviour analysis</a:t>
            </a:r>
          </a:p>
        </p:txBody>
      </p:sp>
    </p:spTree>
    <p:extLst>
      <p:ext uri="{BB962C8B-B14F-4D97-AF65-F5344CB8AC3E}">
        <p14:creationId xmlns:p14="http://schemas.microsoft.com/office/powerpoint/2010/main" val="877377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62E14-0AC4-65E2-9E8D-DA124581A549}"/>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0D4EDAE7-F7EA-11E6-EBD7-471DB5EEE0D2}"/>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Nature of Marginal Costing</a:t>
            </a:r>
          </a:p>
        </p:txBody>
      </p:sp>
      <p:sp>
        <p:nvSpPr>
          <p:cNvPr id="6" name="TextBox 5">
            <a:extLst>
              <a:ext uri="{FF2B5EF4-FFF2-40B4-BE49-F238E27FC236}">
                <a16:creationId xmlns:a16="http://schemas.microsoft.com/office/drawing/2014/main" id="{BD123570-D7C6-CE2E-0CA4-7C30B042FAFF}"/>
              </a:ext>
            </a:extLst>
          </p:cNvPr>
          <p:cNvSpPr txBox="1"/>
          <p:nvPr/>
        </p:nvSpPr>
        <p:spPr>
          <a:xfrm rot="10800000" flipV="1">
            <a:off x="1199239" y="930843"/>
            <a:ext cx="5866578" cy="1808444"/>
          </a:xfrm>
          <a:prstGeom prst="rect">
            <a:avLst/>
          </a:prstGeom>
          <a:noFill/>
        </p:spPr>
        <p:txBody>
          <a:bodyPr wrap="square" lIns="0" tIns="0" rIns="0" bIns="0" rtlCol="0" anchor="t">
            <a:spAutoFit/>
          </a:bodyPr>
          <a:lstStyle/>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Based on nature of cost</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Considers cost behaviour patterns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Developed from cost concepts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Affects profitability analysis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Different from absorption costing</a:t>
            </a:r>
          </a:p>
        </p:txBody>
      </p:sp>
    </p:spTree>
    <p:extLst>
      <p:ext uri="{BB962C8B-B14F-4D97-AF65-F5344CB8AC3E}">
        <p14:creationId xmlns:p14="http://schemas.microsoft.com/office/powerpoint/2010/main" val="127022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B216D-B159-58B5-DAF8-B682B731027D}"/>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F5ACC8A4-5446-5AFF-F97E-EE1EC3D08EDC}"/>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 Absorption Costing vs Marginal Costing</a:t>
            </a:r>
          </a:p>
        </p:txBody>
      </p:sp>
      <p:graphicFrame>
        <p:nvGraphicFramePr>
          <p:cNvPr id="3" name="Table 2">
            <a:extLst>
              <a:ext uri="{FF2B5EF4-FFF2-40B4-BE49-F238E27FC236}">
                <a16:creationId xmlns:a16="http://schemas.microsoft.com/office/drawing/2014/main" id="{07A2E419-6990-498E-470A-6C497EFE7936}"/>
              </a:ext>
            </a:extLst>
          </p:cNvPr>
          <p:cNvGraphicFramePr>
            <a:graphicFrameLocks noGrp="1"/>
          </p:cNvGraphicFramePr>
          <p:nvPr>
            <p:extLst>
              <p:ext uri="{D42A27DB-BD31-4B8C-83A1-F6EECF244321}">
                <p14:modId xmlns:p14="http://schemas.microsoft.com/office/powerpoint/2010/main" val="15932661"/>
              </p:ext>
            </p:extLst>
          </p:nvPr>
        </p:nvGraphicFramePr>
        <p:xfrm>
          <a:off x="628650" y="1582615"/>
          <a:ext cx="7886700" cy="2367243"/>
        </p:xfrm>
        <a:graphic>
          <a:graphicData uri="http://schemas.openxmlformats.org/drawingml/2006/table">
            <a:tbl>
              <a:tblPr firstRow="1" bandRow="1">
                <a:tableStyleId>{69CF1AB2-1976-4502-BF36-3FF5EA218861}</a:tableStyleId>
              </a:tblPr>
              <a:tblGrid>
                <a:gridCol w="2628900">
                  <a:extLst>
                    <a:ext uri="{9D8B030D-6E8A-4147-A177-3AD203B41FA5}">
                      <a16:colId xmlns:a16="http://schemas.microsoft.com/office/drawing/2014/main" val="732095261"/>
                    </a:ext>
                  </a:extLst>
                </a:gridCol>
                <a:gridCol w="2628900">
                  <a:extLst>
                    <a:ext uri="{9D8B030D-6E8A-4147-A177-3AD203B41FA5}">
                      <a16:colId xmlns:a16="http://schemas.microsoft.com/office/drawing/2014/main" val="3831134274"/>
                    </a:ext>
                  </a:extLst>
                </a:gridCol>
                <a:gridCol w="2628900">
                  <a:extLst>
                    <a:ext uri="{9D8B030D-6E8A-4147-A177-3AD203B41FA5}">
                      <a16:colId xmlns:a16="http://schemas.microsoft.com/office/drawing/2014/main" val="1918403280"/>
                    </a:ext>
                  </a:extLst>
                </a:gridCol>
              </a:tblGrid>
              <a:tr h="370773">
                <a:tc>
                  <a:txBody>
                    <a:bodyPr/>
                    <a:lstStyle/>
                    <a:p>
                      <a:pPr>
                        <a:buNone/>
                      </a:pPr>
                      <a:r>
                        <a:rPr lang="en-GB" b="1">
                          <a:latin typeface="Calibri" panose="020F0502020204030204" pitchFamily="34" charset="0"/>
                          <a:ea typeface="Calibri" panose="020F0502020204030204" pitchFamily="34" charset="0"/>
                          <a:cs typeface="Calibri" panose="020F0502020204030204" pitchFamily="34" charset="0"/>
                        </a:rPr>
                        <a:t>Aspect</a:t>
                      </a:r>
                      <a:endParaRPr lang="en-GB">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GB" b="1">
                          <a:latin typeface="Calibri" panose="020F0502020204030204" pitchFamily="34" charset="0"/>
                          <a:ea typeface="Calibri" panose="020F0502020204030204" pitchFamily="34" charset="0"/>
                          <a:cs typeface="Calibri" panose="020F0502020204030204" pitchFamily="34" charset="0"/>
                        </a:rPr>
                        <a:t>Absorption Costing</a:t>
                      </a:r>
                      <a:endParaRPr lang="en-GB">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GB" b="1">
                          <a:latin typeface="Calibri" panose="020F0502020204030204" pitchFamily="34" charset="0"/>
                          <a:ea typeface="Calibri" panose="020F0502020204030204" pitchFamily="34" charset="0"/>
                          <a:cs typeface="Calibri" panose="020F0502020204030204" pitchFamily="34" charset="0"/>
                        </a:rPr>
                        <a:t>Marginal Costing</a:t>
                      </a:r>
                      <a:endParaRPr lang="en-GB">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506864392"/>
                  </a:ext>
                </a:extLst>
              </a:tr>
              <a:tr h="627462">
                <a:tc>
                  <a:txBody>
                    <a:bodyPr/>
                    <a:lstStyle/>
                    <a:p>
                      <a:pPr>
                        <a:buNone/>
                      </a:pPr>
                      <a:r>
                        <a:rPr lang="en-GB" b="1">
                          <a:latin typeface="Calibri" panose="020F0502020204030204" pitchFamily="34" charset="0"/>
                          <a:ea typeface="Calibri" panose="020F0502020204030204" pitchFamily="34" charset="0"/>
                          <a:cs typeface="Calibri" panose="020F0502020204030204" pitchFamily="34" charset="0"/>
                        </a:rPr>
                        <a:t>Cost Included</a:t>
                      </a:r>
                      <a:endParaRPr lang="en-GB">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GB" dirty="0">
                          <a:latin typeface="Calibri" panose="020F0502020204030204" pitchFamily="34" charset="0"/>
                          <a:ea typeface="Calibri" panose="020F0502020204030204" pitchFamily="34" charset="0"/>
                          <a:cs typeface="Calibri" panose="020F0502020204030204" pitchFamily="34" charset="0"/>
                        </a:rPr>
                        <a:t>Fixed + variable manufacturing costs</a:t>
                      </a:r>
                    </a:p>
                  </a:txBody>
                  <a:tcPr anchor="ctr"/>
                </a:tc>
                <a:tc>
                  <a:txBody>
                    <a:bodyPr/>
                    <a:lstStyle/>
                    <a:p>
                      <a:pPr>
                        <a:buNone/>
                      </a:pPr>
                      <a:r>
                        <a:rPr lang="en-GB">
                          <a:latin typeface="Calibri" panose="020F0502020204030204" pitchFamily="34" charset="0"/>
                          <a:ea typeface="Calibri" panose="020F0502020204030204" pitchFamily="34" charset="0"/>
                          <a:cs typeface="Calibri" panose="020F0502020204030204" pitchFamily="34" charset="0"/>
                        </a:rPr>
                        <a:t>Variable manufacturing costs only</a:t>
                      </a:r>
                    </a:p>
                  </a:txBody>
                  <a:tcPr anchor="ctr"/>
                </a:tc>
                <a:extLst>
                  <a:ext uri="{0D108BD9-81ED-4DB2-BD59-A6C34878D82A}">
                    <a16:rowId xmlns:a16="http://schemas.microsoft.com/office/drawing/2014/main" val="3506613209"/>
                  </a:ext>
                </a:extLst>
              </a:tr>
              <a:tr h="627462">
                <a:tc>
                  <a:txBody>
                    <a:bodyPr/>
                    <a:lstStyle/>
                    <a:p>
                      <a:pPr>
                        <a:buNone/>
                      </a:pPr>
                      <a:r>
                        <a:rPr lang="en-GB" b="1" dirty="0">
                          <a:latin typeface="Calibri" panose="020F0502020204030204" pitchFamily="34" charset="0"/>
                          <a:ea typeface="Calibri" panose="020F0502020204030204" pitchFamily="34" charset="0"/>
                          <a:cs typeface="Calibri" panose="020F0502020204030204" pitchFamily="34" charset="0"/>
                        </a:rPr>
                        <a:t>Purpose</a:t>
                      </a:r>
                      <a:endParaRPr lang="en-GB"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GB">
                          <a:latin typeface="Calibri" panose="020F0502020204030204" pitchFamily="34" charset="0"/>
                          <a:ea typeface="Calibri" panose="020F0502020204030204" pitchFamily="34" charset="0"/>
                          <a:cs typeface="Calibri" panose="020F0502020204030204" pitchFamily="34" charset="0"/>
                        </a:rPr>
                        <a:t>Cost control</a:t>
                      </a:r>
                    </a:p>
                  </a:txBody>
                  <a:tcPr anchor="ctr"/>
                </a:tc>
                <a:tc>
                  <a:txBody>
                    <a:bodyPr/>
                    <a:lstStyle/>
                    <a:p>
                      <a:pPr>
                        <a:buNone/>
                      </a:pPr>
                      <a:r>
                        <a:rPr lang="en-GB">
                          <a:latin typeface="Calibri" panose="020F0502020204030204" pitchFamily="34" charset="0"/>
                          <a:ea typeface="Calibri" panose="020F0502020204030204" pitchFamily="34" charset="0"/>
                          <a:cs typeface="Calibri" panose="020F0502020204030204" pitchFamily="34" charset="0"/>
                        </a:rPr>
                        <a:t>Managerial decision-making and control</a:t>
                      </a:r>
                    </a:p>
                  </a:txBody>
                  <a:tcPr anchor="ctr"/>
                </a:tc>
                <a:extLst>
                  <a:ext uri="{0D108BD9-81ED-4DB2-BD59-A6C34878D82A}">
                    <a16:rowId xmlns:a16="http://schemas.microsoft.com/office/drawing/2014/main" val="1365918277"/>
                  </a:ext>
                </a:extLst>
              </a:tr>
              <a:tr h="370773">
                <a:tc>
                  <a:txBody>
                    <a:bodyPr/>
                    <a:lstStyle/>
                    <a:p>
                      <a:pPr>
                        <a:buNone/>
                      </a:pPr>
                      <a:r>
                        <a:rPr lang="en-GB" b="1">
                          <a:latin typeface="Calibri" panose="020F0502020204030204" pitchFamily="34" charset="0"/>
                          <a:ea typeface="Calibri" panose="020F0502020204030204" pitchFamily="34" charset="0"/>
                          <a:cs typeface="Calibri" panose="020F0502020204030204" pitchFamily="34" charset="0"/>
                        </a:rPr>
                        <a:t>Inventory Valuation</a:t>
                      </a:r>
                      <a:endParaRPr lang="en-GB">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GB">
                          <a:latin typeface="Calibri" panose="020F0502020204030204" pitchFamily="34" charset="0"/>
                          <a:ea typeface="Calibri" panose="020F0502020204030204" pitchFamily="34" charset="0"/>
                          <a:cs typeface="Calibri" panose="020F0502020204030204" pitchFamily="34" charset="0"/>
                        </a:rPr>
                        <a:t>Fixed + variable costs</a:t>
                      </a:r>
                    </a:p>
                  </a:txBody>
                  <a:tcPr anchor="ctr"/>
                </a:tc>
                <a:tc>
                  <a:txBody>
                    <a:bodyPr/>
                    <a:lstStyle/>
                    <a:p>
                      <a:pPr>
                        <a:buNone/>
                      </a:pPr>
                      <a:r>
                        <a:rPr lang="en-GB">
                          <a:latin typeface="Calibri" panose="020F0502020204030204" pitchFamily="34" charset="0"/>
                          <a:ea typeface="Calibri" panose="020F0502020204030204" pitchFamily="34" charset="0"/>
                          <a:cs typeface="Calibri" panose="020F0502020204030204" pitchFamily="34" charset="0"/>
                        </a:rPr>
                        <a:t>Variable costs only</a:t>
                      </a:r>
                    </a:p>
                  </a:txBody>
                  <a:tcPr anchor="ctr"/>
                </a:tc>
                <a:extLst>
                  <a:ext uri="{0D108BD9-81ED-4DB2-BD59-A6C34878D82A}">
                    <a16:rowId xmlns:a16="http://schemas.microsoft.com/office/drawing/2014/main" val="2991461207"/>
                  </a:ext>
                </a:extLst>
              </a:tr>
              <a:tr h="370773">
                <a:tc>
                  <a:txBody>
                    <a:bodyPr/>
                    <a:lstStyle/>
                    <a:p>
                      <a:pPr>
                        <a:buNone/>
                      </a:pPr>
                      <a:r>
                        <a:rPr lang="en-GB" b="1">
                          <a:latin typeface="Calibri" panose="020F0502020204030204" pitchFamily="34" charset="0"/>
                          <a:ea typeface="Calibri" panose="020F0502020204030204" pitchFamily="34" charset="0"/>
                          <a:cs typeface="Calibri" panose="020F0502020204030204" pitchFamily="34" charset="0"/>
                        </a:rPr>
                        <a:t>Nature</a:t>
                      </a:r>
                      <a:endParaRPr lang="en-GB">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GB" dirty="0">
                          <a:latin typeface="Calibri" panose="020F0502020204030204" pitchFamily="34" charset="0"/>
                          <a:ea typeface="Calibri" panose="020F0502020204030204" pitchFamily="34" charset="0"/>
                          <a:cs typeface="Calibri" panose="020F0502020204030204" pitchFamily="34" charset="0"/>
                        </a:rPr>
                        <a:t>Costing method</a:t>
                      </a:r>
                    </a:p>
                  </a:txBody>
                  <a:tcPr anchor="ctr"/>
                </a:tc>
                <a:tc>
                  <a:txBody>
                    <a:bodyPr/>
                    <a:lstStyle/>
                    <a:p>
                      <a:pPr>
                        <a:buNone/>
                      </a:pPr>
                      <a:r>
                        <a:rPr lang="en-GB" dirty="0">
                          <a:latin typeface="Calibri" panose="020F0502020204030204" pitchFamily="34" charset="0"/>
                          <a:ea typeface="Calibri" panose="020F0502020204030204" pitchFamily="34" charset="0"/>
                          <a:cs typeface="Calibri" panose="020F0502020204030204" pitchFamily="34" charset="0"/>
                        </a:rPr>
                        <a:t>Costing technique</a:t>
                      </a:r>
                    </a:p>
                  </a:txBody>
                  <a:tcPr anchor="ctr"/>
                </a:tc>
                <a:extLst>
                  <a:ext uri="{0D108BD9-81ED-4DB2-BD59-A6C34878D82A}">
                    <a16:rowId xmlns:a16="http://schemas.microsoft.com/office/drawing/2014/main" val="1121376388"/>
                  </a:ext>
                </a:extLst>
              </a:tr>
            </a:tbl>
          </a:graphicData>
        </a:graphic>
      </p:graphicFrame>
    </p:spTree>
    <p:extLst>
      <p:ext uri="{BB962C8B-B14F-4D97-AF65-F5344CB8AC3E}">
        <p14:creationId xmlns:p14="http://schemas.microsoft.com/office/powerpoint/2010/main" val="4207722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BE7C8-E29D-26DE-CBB3-018EF0F287AE}"/>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F55FCD58-0E66-A36F-8502-06C58AA41AFB}"/>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Uses of Marginal Costing </a:t>
            </a:r>
          </a:p>
        </p:txBody>
      </p:sp>
      <p:sp>
        <p:nvSpPr>
          <p:cNvPr id="6" name="TextBox 5">
            <a:extLst>
              <a:ext uri="{FF2B5EF4-FFF2-40B4-BE49-F238E27FC236}">
                <a16:creationId xmlns:a16="http://schemas.microsoft.com/office/drawing/2014/main" id="{5644BE98-866B-12B4-BA89-118AE8575696}"/>
              </a:ext>
            </a:extLst>
          </p:cNvPr>
          <p:cNvSpPr txBox="1"/>
          <p:nvPr/>
        </p:nvSpPr>
        <p:spPr>
          <a:xfrm rot="10800000" flipV="1">
            <a:off x="1199239" y="1115509"/>
            <a:ext cx="5866578" cy="1439112"/>
          </a:xfrm>
          <a:prstGeom prst="rect">
            <a:avLst/>
          </a:prstGeom>
          <a:noFill/>
        </p:spPr>
        <p:txBody>
          <a:bodyPr wrap="square" lIns="0" tIns="0" rIns="0" bIns="0" rtlCol="0" anchor="t">
            <a:spAutoFit/>
          </a:bodyPr>
          <a:lstStyle/>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Job costing</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Process costing</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Standard costing</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Budgetary control</a:t>
            </a:r>
          </a:p>
        </p:txBody>
      </p:sp>
    </p:spTree>
    <p:extLst>
      <p:ext uri="{BB962C8B-B14F-4D97-AF65-F5344CB8AC3E}">
        <p14:creationId xmlns:p14="http://schemas.microsoft.com/office/powerpoint/2010/main" val="406838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EB412-3586-8DF4-D6DD-E4D8C54DF45F}"/>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867E940E-9364-3CA1-626B-C3C543B4D6FD}"/>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Marginal Cost (Economists’ View)</a:t>
            </a:r>
          </a:p>
        </p:txBody>
      </p:sp>
      <p:sp>
        <p:nvSpPr>
          <p:cNvPr id="6" name="TextBox 5">
            <a:extLst>
              <a:ext uri="{FF2B5EF4-FFF2-40B4-BE49-F238E27FC236}">
                <a16:creationId xmlns:a16="http://schemas.microsoft.com/office/drawing/2014/main" id="{F6C74AAC-F0DB-000A-38ED-E0D87EC73870}"/>
              </a:ext>
            </a:extLst>
          </p:cNvPr>
          <p:cNvSpPr txBox="1"/>
          <p:nvPr/>
        </p:nvSpPr>
        <p:spPr>
          <a:xfrm rot="10800000" flipV="1">
            <a:off x="1199239" y="930843"/>
            <a:ext cx="5866578" cy="1808444"/>
          </a:xfrm>
          <a:prstGeom prst="rect">
            <a:avLst/>
          </a:prstGeom>
          <a:noFill/>
        </p:spPr>
        <p:txBody>
          <a:bodyPr wrap="square" lIns="0" tIns="0" rIns="0" bIns="0" rtlCol="0" anchor="t">
            <a:spAutoFit/>
          </a:bodyPr>
          <a:lstStyle/>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Cost of one extra unit</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Based on change in total cost</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Involves increase or decrease output</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Variable cost per unit constant</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Difference gives marginal cost</a:t>
            </a:r>
          </a:p>
        </p:txBody>
      </p:sp>
    </p:spTree>
    <p:extLst>
      <p:ext uri="{BB962C8B-B14F-4D97-AF65-F5344CB8AC3E}">
        <p14:creationId xmlns:p14="http://schemas.microsoft.com/office/powerpoint/2010/main" val="836692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76F6B-9A8A-D705-3989-E0EEFE9EA6AE}"/>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3D3F4045-3A0E-3AF1-7806-40A5AF9EF942}"/>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Example of Marginal Cost</a:t>
            </a:r>
          </a:p>
        </p:txBody>
      </p:sp>
      <p:sp>
        <p:nvSpPr>
          <p:cNvPr id="6" name="TextBox 5">
            <a:extLst>
              <a:ext uri="{FF2B5EF4-FFF2-40B4-BE49-F238E27FC236}">
                <a16:creationId xmlns:a16="http://schemas.microsoft.com/office/drawing/2014/main" id="{309D1802-8B61-6092-D407-BF071492327B}"/>
              </a:ext>
            </a:extLst>
          </p:cNvPr>
          <p:cNvSpPr txBox="1"/>
          <p:nvPr/>
        </p:nvSpPr>
        <p:spPr>
          <a:xfrm rot="10800000" flipV="1">
            <a:off x="1199239" y="2018921"/>
            <a:ext cx="5866578" cy="369332"/>
          </a:xfrm>
          <a:prstGeom prst="rect">
            <a:avLst/>
          </a:prstGeom>
          <a:noFill/>
          <a:ln>
            <a:solidFill>
              <a:schemeClr val="accent1"/>
            </a:solidFill>
          </a:ln>
        </p:spPr>
        <p:txBody>
          <a:bodyPr wrap="square" lIns="0" tIns="0" rIns="0" bIns="0" rtlCol="0" anchor="t">
            <a:spAutoFit/>
          </a:bodyPr>
          <a:lstStyle/>
          <a:p>
            <a:pPr fontAlgn="t">
              <a:lnSpc>
                <a:spcPct val="150000"/>
              </a:lnSpc>
            </a:pPr>
            <a:r>
              <a:rPr lang="en-GB" sz="1600" dirty="0">
                <a:latin typeface="Calibri" panose="020F0502020204030204" pitchFamily="34" charset="0"/>
                <a:ea typeface="Calibri" panose="020F0502020204030204" pitchFamily="34" charset="0"/>
                <a:cs typeface="Calibri" panose="020F0502020204030204" pitchFamily="34" charset="0"/>
              </a:rPr>
              <a:t>Marginal cost = </a:t>
            </a:r>
            <a:r>
              <a:rPr lang="en-GB" sz="1600" b="1" dirty="0">
                <a:latin typeface="Calibri" panose="020F0502020204030204" pitchFamily="34" charset="0"/>
                <a:ea typeface="Calibri" panose="020F0502020204030204" pitchFamily="34" charset="0"/>
                <a:cs typeface="Calibri" panose="020F0502020204030204" pitchFamily="34" charset="0"/>
              </a:rPr>
              <a:t>cost of producing one additional unit</a:t>
            </a:r>
            <a:endParaRPr lang="en-GB" sz="16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D4C7E0A-1991-AE1A-729E-6A1AF6B25055}"/>
                  </a:ext>
                </a:extLst>
              </p:cNvPr>
              <p:cNvSpPr txBox="1"/>
              <p:nvPr/>
            </p:nvSpPr>
            <p:spPr>
              <a:xfrm>
                <a:off x="1588834" y="2751138"/>
                <a:ext cx="5087388" cy="1531445"/>
              </a:xfrm>
              <a:prstGeom prst="rect">
                <a:avLst/>
              </a:prstGeom>
              <a:noFill/>
            </p:spPr>
            <p:txBody>
              <a:bodyPr wrap="square">
                <a:spAutoFit/>
              </a:bodyPr>
              <a:lstStyle/>
              <a:p>
                <a:pPr marL="285750" indent="-285750" fontAlgn="t">
                  <a:lnSpc>
                    <a:spcPct val="150000"/>
                  </a:lnSpc>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800 units cost = ₹12,000</a:t>
                </a:r>
              </a:p>
              <a:p>
                <a:pPr marL="285750" indent="-285750" fontAlgn="t">
                  <a:lnSpc>
                    <a:spcPct val="150000"/>
                  </a:lnSpc>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801 units cost = ₹12,010</a:t>
                </a:r>
              </a:p>
              <a:p>
                <a:pPr marL="285750" indent="-285750">
                  <a:lnSpc>
                    <a:spcPct val="150000"/>
                  </a:lnSpc>
                  <a:buFont typeface="Arial" panose="020B0604020202020204" pitchFamily="34" charset="0"/>
                  <a:buChar char="•"/>
                </a:pPr>
                <a14:m>
                  <m:oMath xmlns:m="http://schemas.openxmlformats.org/officeDocument/2006/math">
                    <m:r>
                      <m:rPr>
                        <m:nor/>
                      </m:rPr>
                      <a:rPr lang="en-GB" sz="1600">
                        <a:latin typeface="Calibri" panose="020F0502020204030204" pitchFamily="34" charset="0"/>
                        <a:ea typeface="Calibri" panose="020F0502020204030204" pitchFamily="34" charset="0"/>
                        <a:cs typeface="Calibri" panose="020F0502020204030204" pitchFamily="34" charset="0"/>
                      </a:rPr>
                      <m:t>Marginal</m:t>
                    </m:r>
                    <m:r>
                      <m:rPr>
                        <m:nor/>
                      </m:rPr>
                      <a:rPr lang="en-GB" sz="1600" i="1">
                        <a:latin typeface="Calibri" panose="020F0502020204030204" pitchFamily="34" charset="0"/>
                        <a:ea typeface="Calibri" panose="020F0502020204030204" pitchFamily="34" charset="0"/>
                        <a:cs typeface="Calibri" panose="020F0502020204030204" pitchFamily="34" charset="0"/>
                      </a:rPr>
                      <m:t> </m:t>
                    </m:r>
                    <m:r>
                      <m:rPr>
                        <m:nor/>
                      </m:rPr>
                      <a:rPr lang="en-GB" sz="1600" i="1">
                        <a:latin typeface="Calibri" panose="020F0502020204030204" pitchFamily="34" charset="0"/>
                        <a:ea typeface="Calibri" panose="020F0502020204030204" pitchFamily="34" charset="0"/>
                        <a:cs typeface="Calibri" panose="020F0502020204030204" pitchFamily="34" charset="0"/>
                      </a:rPr>
                      <m:t>Cost</m:t>
                    </m:r>
                    <m:r>
                      <a:rPr lang="en-GB" sz="1600" smtClean="0">
                        <a:latin typeface="Cambria Math" panose="02040503050406030204" pitchFamily="18" charset="0"/>
                      </a:rPr>
                      <m:t>=12,010−12,000=</m:t>
                    </m:r>
                    <m:r>
                      <m:rPr>
                        <m:nor/>
                      </m:rPr>
                      <a:rPr lang="en-GB" sz="1600" i="1">
                        <a:latin typeface="Calibri" panose="020F0502020204030204" pitchFamily="34" charset="0"/>
                        <a:ea typeface="Calibri" panose="020F0502020204030204" pitchFamily="34" charset="0"/>
                        <a:cs typeface="Calibri" panose="020F0502020204030204" pitchFamily="34" charset="0"/>
                      </a:rPr>
                      <m:t>₹</m:t>
                    </m:r>
                    <m:r>
                      <a:rPr lang="en-GB" sz="1600" smtClean="0">
                        <a:latin typeface="Cambria Math" panose="02040503050406030204" pitchFamily="18" charset="0"/>
                      </a:rPr>
                      <m:t>10</m:t>
                    </m:r>
                  </m:oMath>
                </a14:m>
                <a:endParaRPr lang="en-GB" sz="1600"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Shows: Change in total cost for one extra unit</a:t>
                </a:r>
              </a:p>
            </p:txBody>
          </p:sp>
        </mc:Choice>
        <mc:Fallback xmlns="">
          <p:sp>
            <p:nvSpPr>
              <p:cNvPr id="4" name="TextBox 3">
                <a:extLst>
                  <a:ext uri="{FF2B5EF4-FFF2-40B4-BE49-F238E27FC236}">
                    <a16:creationId xmlns:a16="http://schemas.microsoft.com/office/drawing/2014/main" id="{FD4C7E0A-1991-AE1A-729E-6A1AF6B25055}"/>
                  </a:ext>
                </a:extLst>
              </p:cNvPr>
              <p:cNvSpPr txBox="1">
                <a:spLocks noRot="1" noChangeAspect="1" noMove="1" noResize="1" noEditPoints="1" noAdjustHandles="1" noChangeArrowheads="1" noChangeShapeType="1" noTextEdit="1"/>
              </p:cNvSpPr>
              <p:nvPr/>
            </p:nvSpPr>
            <p:spPr>
              <a:xfrm>
                <a:off x="1588834" y="2751138"/>
                <a:ext cx="5087388" cy="1531445"/>
              </a:xfrm>
              <a:prstGeom prst="rect">
                <a:avLst/>
              </a:prstGeom>
              <a:blipFill>
                <a:blip r:embed="rId3"/>
                <a:stretch>
                  <a:fillRect l="-480" b="-3968"/>
                </a:stretch>
              </a:blipFill>
            </p:spPr>
            <p:txBody>
              <a:bodyPr/>
              <a:lstStyle/>
              <a:p>
                <a:r>
                  <a:rPr lang="en-GB">
                    <a:noFill/>
                  </a:rPr>
                  <a:t> </a:t>
                </a:r>
              </a:p>
            </p:txBody>
          </p:sp>
        </mc:Fallback>
      </mc:AlternateContent>
    </p:spTree>
    <p:extLst>
      <p:ext uri="{BB962C8B-B14F-4D97-AF65-F5344CB8AC3E}">
        <p14:creationId xmlns:p14="http://schemas.microsoft.com/office/powerpoint/2010/main" val="408430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50C9C-F24A-4495-62DF-CD4C0856927E}"/>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8DCE8ED5-3B42-5431-E765-0AC790056CD2}"/>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Accountant’s Concept</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0F56854-3E9F-AB2B-9EBC-C32C214F43D3}"/>
                  </a:ext>
                </a:extLst>
              </p:cNvPr>
              <p:cNvSpPr txBox="1"/>
              <p:nvPr/>
            </p:nvSpPr>
            <p:spPr>
              <a:xfrm rot="10800000" flipV="1">
                <a:off x="731611" y="2667611"/>
                <a:ext cx="7680778" cy="1069139"/>
              </a:xfrm>
              <a:prstGeom prst="rect">
                <a:avLst/>
              </a:prstGeom>
              <a:noFill/>
            </p:spPr>
            <p:txBody>
              <a:bodyPr wrap="square" lIns="0" tIns="0" rIns="0" bIns="0" rtlCol="0" anchor="t">
                <a:spAutoFit/>
              </a:bodyPr>
              <a:lstStyle/>
              <a:p>
                <a:pPr fontAlgn="t">
                  <a:lnSpc>
                    <a:spcPct val="150000"/>
                  </a:lnSpc>
                </a:pPr>
                <a:r>
                  <a:rPr lang="en-GB" sz="1600" b="1" dirty="0">
                    <a:latin typeface="Calibri" panose="020F0502020204030204" pitchFamily="34" charset="0"/>
                    <a:ea typeface="Calibri" panose="020F0502020204030204" pitchFamily="34" charset="0"/>
                    <a:cs typeface="Calibri" panose="020F0502020204030204" pitchFamily="34" charset="0"/>
                  </a:rPr>
                  <a:t>Formulae</a:t>
                </a:r>
              </a:p>
              <a:p>
                <a:pPr marL="285750" indent="-285750">
                  <a:lnSpc>
                    <a:spcPct val="150000"/>
                  </a:lnSpc>
                  <a:buFont typeface="Arial" panose="020B0604020202020204" pitchFamily="34" charset="0"/>
                  <a:buChar char="•"/>
                </a:pPr>
                <a14:m>
                  <m:oMath xmlns:m="http://schemas.openxmlformats.org/officeDocument/2006/math">
                    <m:r>
                      <m:rPr>
                        <m:nor/>
                      </m:rPr>
                      <a:rPr lang="en-GB" sz="1600">
                        <a:latin typeface="Calibri" panose="020F0502020204030204" pitchFamily="34" charset="0"/>
                        <a:ea typeface="Calibri" panose="020F0502020204030204" pitchFamily="34" charset="0"/>
                        <a:cs typeface="Calibri" panose="020F0502020204030204" pitchFamily="34" charset="0"/>
                      </a:rPr>
                      <m:t>Marginal</m:t>
                    </m:r>
                    <m:r>
                      <m:rPr>
                        <m:nor/>
                      </m:rPr>
                      <a:rPr lang="en-GB" sz="1600" i="1">
                        <a:latin typeface="Calibri" panose="020F0502020204030204" pitchFamily="34" charset="0"/>
                        <a:ea typeface="Calibri" panose="020F0502020204030204" pitchFamily="34" charset="0"/>
                        <a:cs typeface="Calibri" panose="020F0502020204030204" pitchFamily="34" charset="0"/>
                      </a:rPr>
                      <m:t> </m:t>
                    </m:r>
                    <m:r>
                      <m:rPr>
                        <m:nor/>
                      </m:rPr>
                      <a:rPr lang="en-GB" sz="1600" i="1">
                        <a:latin typeface="Calibri" panose="020F0502020204030204" pitchFamily="34" charset="0"/>
                        <a:ea typeface="Calibri" panose="020F0502020204030204" pitchFamily="34" charset="0"/>
                        <a:cs typeface="Calibri" panose="020F0502020204030204" pitchFamily="34" charset="0"/>
                      </a:rPr>
                      <m:t>Cost</m:t>
                    </m:r>
                    <m:r>
                      <a:rPr lang="en-GB" sz="1600">
                        <a:latin typeface="Cambria Math" panose="02040503050406030204" pitchFamily="18" charset="0"/>
                      </a:rPr>
                      <m:t>=</m:t>
                    </m:r>
                    <m:r>
                      <m:rPr>
                        <m:nor/>
                      </m:rPr>
                      <a:rPr lang="en-GB" sz="1600" i="1">
                        <a:latin typeface="Calibri" panose="020F0502020204030204" pitchFamily="34" charset="0"/>
                        <a:ea typeface="Calibri" panose="020F0502020204030204" pitchFamily="34" charset="0"/>
                        <a:cs typeface="Calibri" panose="020F0502020204030204" pitchFamily="34" charset="0"/>
                      </a:rPr>
                      <m:t>Prime</m:t>
                    </m:r>
                    <m:r>
                      <m:rPr>
                        <m:nor/>
                      </m:rPr>
                      <a:rPr lang="en-GB" sz="1600" i="1">
                        <a:latin typeface="Calibri" panose="020F0502020204030204" pitchFamily="34" charset="0"/>
                        <a:ea typeface="Calibri" panose="020F0502020204030204" pitchFamily="34" charset="0"/>
                        <a:cs typeface="Calibri" panose="020F0502020204030204" pitchFamily="34" charset="0"/>
                      </a:rPr>
                      <m:t> </m:t>
                    </m:r>
                    <m:r>
                      <m:rPr>
                        <m:nor/>
                      </m:rPr>
                      <a:rPr lang="en-GB" sz="1600" i="1">
                        <a:latin typeface="Calibri" panose="020F0502020204030204" pitchFamily="34" charset="0"/>
                        <a:ea typeface="Calibri" panose="020F0502020204030204" pitchFamily="34" charset="0"/>
                        <a:cs typeface="Calibri" panose="020F0502020204030204" pitchFamily="34" charset="0"/>
                      </a:rPr>
                      <m:t>Cost</m:t>
                    </m:r>
                    <m:r>
                      <a:rPr lang="en-GB" sz="1600">
                        <a:latin typeface="Cambria Math" panose="02040503050406030204" pitchFamily="18" charset="0"/>
                      </a:rPr>
                      <m:t>+</m:t>
                    </m:r>
                    <m:r>
                      <m:rPr>
                        <m:nor/>
                      </m:rPr>
                      <a:rPr lang="en-GB" sz="1600" i="1">
                        <a:latin typeface="Calibri" panose="020F0502020204030204" pitchFamily="34" charset="0"/>
                        <a:ea typeface="Calibri" panose="020F0502020204030204" pitchFamily="34" charset="0"/>
                        <a:cs typeface="Calibri" panose="020F0502020204030204" pitchFamily="34" charset="0"/>
                      </a:rPr>
                      <m:t>Variable</m:t>
                    </m:r>
                    <m:r>
                      <m:rPr>
                        <m:nor/>
                      </m:rPr>
                      <a:rPr lang="en-GB" sz="1600" i="1">
                        <a:latin typeface="Calibri" panose="020F0502020204030204" pitchFamily="34" charset="0"/>
                        <a:ea typeface="Calibri" panose="020F0502020204030204" pitchFamily="34" charset="0"/>
                        <a:cs typeface="Calibri" panose="020F0502020204030204" pitchFamily="34" charset="0"/>
                      </a:rPr>
                      <m:t> </m:t>
                    </m:r>
                    <m:r>
                      <m:rPr>
                        <m:nor/>
                      </m:rPr>
                      <a:rPr lang="en-GB" sz="1600" i="1">
                        <a:latin typeface="Calibri" panose="020F0502020204030204" pitchFamily="34" charset="0"/>
                        <a:ea typeface="Calibri" panose="020F0502020204030204" pitchFamily="34" charset="0"/>
                        <a:cs typeface="Calibri" panose="020F0502020204030204" pitchFamily="34" charset="0"/>
                      </a:rPr>
                      <m:t>Overheads</m:t>
                    </m:r>
                  </m:oMath>
                </a14:m>
                <a:endParaRPr lang="en-GB" sz="1600"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14:m>
                  <m:oMath xmlns:m="http://schemas.openxmlformats.org/officeDocument/2006/math">
                    <m:r>
                      <m:rPr>
                        <m:nor/>
                      </m:rPr>
                      <a:rPr lang="en-GB" sz="1600">
                        <a:latin typeface="Calibri" panose="020F0502020204030204" pitchFamily="34" charset="0"/>
                        <a:ea typeface="Calibri" panose="020F0502020204030204" pitchFamily="34" charset="0"/>
                        <a:cs typeface="Calibri" panose="020F0502020204030204" pitchFamily="34" charset="0"/>
                      </a:rPr>
                      <m:t>Marginal</m:t>
                    </m:r>
                    <m:r>
                      <m:rPr>
                        <m:nor/>
                      </m:rPr>
                      <a:rPr lang="en-GB" sz="1600" i="1">
                        <a:latin typeface="Calibri" panose="020F0502020204030204" pitchFamily="34" charset="0"/>
                        <a:ea typeface="Calibri" panose="020F0502020204030204" pitchFamily="34" charset="0"/>
                        <a:cs typeface="Calibri" panose="020F0502020204030204" pitchFamily="34" charset="0"/>
                      </a:rPr>
                      <m:t> </m:t>
                    </m:r>
                    <m:r>
                      <m:rPr>
                        <m:nor/>
                      </m:rPr>
                      <a:rPr lang="en-GB" sz="1600" i="1">
                        <a:latin typeface="Calibri" panose="020F0502020204030204" pitchFamily="34" charset="0"/>
                        <a:ea typeface="Calibri" panose="020F0502020204030204" pitchFamily="34" charset="0"/>
                        <a:cs typeface="Calibri" panose="020F0502020204030204" pitchFamily="34" charset="0"/>
                      </a:rPr>
                      <m:t>Cost</m:t>
                    </m:r>
                    <m:r>
                      <a:rPr lang="en-GB" sz="1600">
                        <a:latin typeface="Cambria Math" panose="02040503050406030204" pitchFamily="18" charset="0"/>
                      </a:rPr>
                      <m:t>=</m:t>
                    </m:r>
                    <m:r>
                      <m:rPr>
                        <m:nor/>
                      </m:rPr>
                      <a:rPr lang="en-GB" sz="1600" i="1">
                        <a:latin typeface="Calibri" panose="020F0502020204030204" pitchFamily="34" charset="0"/>
                        <a:ea typeface="Calibri" panose="020F0502020204030204" pitchFamily="34" charset="0"/>
                        <a:cs typeface="Calibri" panose="020F0502020204030204" pitchFamily="34" charset="0"/>
                      </a:rPr>
                      <m:t>Direct</m:t>
                    </m:r>
                    <m:r>
                      <m:rPr>
                        <m:nor/>
                      </m:rPr>
                      <a:rPr lang="en-GB" sz="1600" i="1">
                        <a:latin typeface="Calibri" panose="020F0502020204030204" pitchFamily="34" charset="0"/>
                        <a:ea typeface="Calibri" panose="020F0502020204030204" pitchFamily="34" charset="0"/>
                        <a:cs typeface="Calibri" panose="020F0502020204030204" pitchFamily="34" charset="0"/>
                      </a:rPr>
                      <m:t> </m:t>
                    </m:r>
                    <m:r>
                      <m:rPr>
                        <m:nor/>
                      </m:rPr>
                      <a:rPr lang="en-GB" sz="1600" i="1">
                        <a:latin typeface="Calibri" panose="020F0502020204030204" pitchFamily="34" charset="0"/>
                        <a:ea typeface="Calibri" panose="020F0502020204030204" pitchFamily="34" charset="0"/>
                        <a:cs typeface="Calibri" panose="020F0502020204030204" pitchFamily="34" charset="0"/>
                      </a:rPr>
                      <m:t>Material</m:t>
                    </m:r>
                    <m:r>
                      <a:rPr lang="en-GB" sz="1600">
                        <a:latin typeface="Cambria Math" panose="02040503050406030204" pitchFamily="18" charset="0"/>
                      </a:rPr>
                      <m:t>+</m:t>
                    </m:r>
                    <m:r>
                      <m:rPr>
                        <m:nor/>
                      </m:rPr>
                      <a:rPr lang="en-GB" sz="1600" i="1">
                        <a:latin typeface="Calibri" panose="020F0502020204030204" pitchFamily="34" charset="0"/>
                        <a:ea typeface="Calibri" panose="020F0502020204030204" pitchFamily="34" charset="0"/>
                        <a:cs typeface="Calibri" panose="020F0502020204030204" pitchFamily="34" charset="0"/>
                      </a:rPr>
                      <m:t>Direct</m:t>
                    </m:r>
                    <m:r>
                      <m:rPr>
                        <m:nor/>
                      </m:rPr>
                      <a:rPr lang="en-GB" sz="1600" i="1">
                        <a:latin typeface="Calibri" panose="020F0502020204030204" pitchFamily="34" charset="0"/>
                        <a:ea typeface="Calibri" panose="020F0502020204030204" pitchFamily="34" charset="0"/>
                        <a:cs typeface="Calibri" panose="020F0502020204030204" pitchFamily="34" charset="0"/>
                      </a:rPr>
                      <m:t> </m:t>
                    </m:r>
                    <m:r>
                      <m:rPr>
                        <m:nor/>
                      </m:rPr>
                      <a:rPr lang="en-GB" sz="1600" i="1">
                        <a:latin typeface="Calibri" panose="020F0502020204030204" pitchFamily="34" charset="0"/>
                        <a:ea typeface="Calibri" panose="020F0502020204030204" pitchFamily="34" charset="0"/>
                        <a:cs typeface="Calibri" panose="020F0502020204030204" pitchFamily="34" charset="0"/>
                      </a:rPr>
                      <m:t>Labour</m:t>
                    </m:r>
                    <m:r>
                      <a:rPr lang="en-GB" sz="1600">
                        <a:latin typeface="Cambria Math" panose="02040503050406030204" pitchFamily="18" charset="0"/>
                      </a:rPr>
                      <m:t>+</m:t>
                    </m:r>
                    <m:r>
                      <m:rPr>
                        <m:nor/>
                      </m:rPr>
                      <a:rPr lang="en-GB" sz="1600" i="1">
                        <a:latin typeface="Calibri" panose="020F0502020204030204" pitchFamily="34" charset="0"/>
                        <a:ea typeface="Calibri" panose="020F0502020204030204" pitchFamily="34" charset="0"/>
                        <a:cs typeface="Calibri" panose="020F0502020204030204" pitchFamily="34" charset="0"/>
                      </a:rPr>
                      <m:t>Direct</m:t>
                    </m:r>
                    <m:r>
                      <m:rPr>
                        <m:nor/>
                      </m:rPr>
                      <a:rPr lang="en-GB" sz="1600" i="1">
                        <a:latin typeface="Calibri" panose="020F0502020204030204" pitchFamily="34" charset="0"/>
                        <a:ea typeface="Calibri" panose="020F0502020204030204" pitchFamily="34" charset="0"/>
                        <a:cs typeface="Calibri" panose="020F0502020204030204" pitchFamily="34" charset="0"/>
                      </a:rPr>
                      <m:t> </m:t>
                    </m:r>
                    <m:r>
                      <m:rPr>
                        <m:nor/>
                      </m:rPr>
                      <a:rPr lang="en-GB" sz="1600" i="1">
                        <a:latin typeface="Calibri" panose="020F0502020204030204" pitchFamily="34" charset="0"/>
                        <a:ea typeface="Calibri" panose="020F0502020204030204" pitchFamily="34" charset="0"/>
                        <a:cs typeface="Calibri" panose="020F0502020204030204" pitchFamily="34" charset="0"/>
                      </a:rPr>
                      <m:t>Expenses</m:t>
                    </m:r>
                    <m:r>
                      <a:rPr lang="en-GB" sz="1600">
                        <a:latin typeface="Cambria Math" panose="02040503050406030204" pitchFamily="18" charset="0"/>
                      </a:rPr>
                      <m:t>+</m:t>
                    </m:r>
                    <m:r>
                      <m:rPr>
                        <m:nor/>
                      </m:rPr>
                      <a:rPr lang="en-GB" sz="1600" i="1">
                        <a:latin typeface="Calibri" panose="020F0502020204030204" pitchFamily="34" charset="0"/>
                        <a:ea typeface="Calibri" panose="020F0502020204030204" pitchFamily="34" charset="0"/>
                        <a:cs typeface="Calibri" panose="020F0502020204030204" pitchFamily="34" charset="0"/>
                      </a:rPr>
                      <m:t>Variable</m:t>
                    </m:r>
                    <m:r>
                      <m:rPr>
                        <m:nor/>
                      </m:rPr>
                      <a:rPr lang="en-GB" sz="1600" i="1">
                        <a:latin typeface="Calibri" panose="020F0502020204030204" pitchFamily="34" charset="0"/>
                        <a:ea typeface="Calibri" panose="020F0502020204030204" pitchFamily="34" charset="0"/>
                        <a:cs typeface="Calibri" panose="020F0502020204030204" pitchFamily="34" charset="0"/>
                      </a:rPr>
                      <m:t> </m:t>
                    </m:r>
                    <m:r>
                      <m:rPr>
                        <m:nor/>
                      </m:rPr>
                      <a:rPr lang="en-GB" sz="1600" i="1">
                        <a:latin typeface="Calibri" panose="020F0502020204030204" pitchFamily="34" charset="0"/>
                        <a:ea typeface="Calibri" panose="020F0502020204030204" pitchFamily="34" charset="0"/>
                        <a:cs typeface="Calibri" panose="020F0502020204030204" pitchFamily="34" charset="0"/>
                      </a:rPr>
                      <m:t>Overheads</m:t>
                    </m:r>
                  </m:oMath>
                </a14:m>
                <a:endParaRPr lang="en-GB" sz="1600"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6" name="TextBox 5">
                <a:extLst>
                  <a:ext uri="{FF2B5EF4-FFF2-40B4-BE49-F238E27FC236}">
                    <a16:creationId xmlns:a16="http://schemas.microsoft.com/office/drawing/2014/main" id="{B0F56854-3E9F-AB2B-9EBC-C32C214F43D3}"/>
                  </a:ext>
                </a:extLst>
              </p:cNvPr>
              <p:cNvSpPr txBox="1">
                <a:spLocks noRot="1" noChangeAspect="1" noMove="1" noResize="1" noEditPoints="1" noAdjustHandles="1" noChangeArrowheads="1" noChangeShapeType="1" noTextEdit="1"/>
              </p:cNvSpPr>
              <p:nvPr/>
            </p:nvSpPr>
            <p:spPr>
              <a:xfrm rot="10800000" flipV="1">
                <a:off x="731611" y="2667611"/>
                <a:ext cx="7680778" cy="1069139"/>
              </a:xfrm>
              <a:prstGeom prst="rect">
                <a:avLst/>
              </a:prstGeom>
              <a:blipFill>
                <a:blip r:embed="rId3"/>
                <a:stretch>
                  <a:fillRect l="-1587" r="-952" b="-9143"/>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398F429B-E674-7A1A-35F7-2B97F7C7A5F6}"/>
              </a:ext>
            </a:extLst>
          </p:cNvPr>
          <p:cNvSpPr txBox="1"/>
          <p:nvPr/>
        </p:nvSpPr>
        <p:spPr>
          <a:xfrm>
            <a:off x="863600" y="1358691"/>
            <a:ext cx="7680779" cy="830997"/>
          </a:xfrm>
          <a:prstGeom prst="rect">
            <a:avLst/>
          </a:prstGeom>
          <a:noFill/>
          <a:ln>
            <a:solidFill>
              <a:schemeClr val="accent1"/>
            </a:solidFill>
          </a:ln>
        </p:spPr>
        <p:txBody>
          <a:bodyPr wrap="square">
            <a:spAutoFit/>
          </a:bodyPr>
          <a:lstStyle/>
          <a:p>
            <a:pPr fontAlgn="t">
              <a:lnSpc>
                <a:spcPct val="150000"/>
              </a:lnSpc>
            </a:pPr>
            <a:r>
              <a:rPr lang="en-US" sz="1600" dirty="0">
                <a:latin typeface="Calibri" panose="020F0502020204030204" pitchFamily="34" charset="0"/>
                <a:ea typeface="Calibri" panose="020F0502020204030204" pitchFamily="34" charset="0"/>
                <a:cs typeface="Calibri" panose="020F0502020204030204" pitchFamily="34" charset="0"/>
              </a:rPr>
              <a:t>Acc. To ICMA, “Marginal cost is the amount at any given volume of output by which aggregate costs are changes if the volume of output is increased or decreased by one unit.”</a:t>
            </a:r>
            <a:endParaRPr lang="en-GB"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0896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DB288-6AC3-F31C-0AC8-BE798AF104BB}"/>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AF3B151D-31C6-D125-519A-A2243FE86E77}"/>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Volume of Production in Marginal Costing</a:t>
            </a:r>
          </a:p>
        </p:txBody>
      </p:sp>
      <p:sp>
        <p:nvSpPr>
          <p:cNvPr id="6" name="TextBox 5">
            <a:extLst>
              <a:ext uri="{FF2B5EF4-FFF2-40B4-BE49-F238E27FC236}">
                <a16:creationId xmlns:a16="http://schemas.microsoft.com/office/drawing/2014/main" id="{FD64730E-B78D-76CB-90FA-D918925DAA98}"/>
              </a:ext>
            </a:extLst>
          </p:cNvPr>
          <p:cNvSpPr txBox="1"/>
          <p:nvPr/>
        </p:nvSpPr>
        <p:spPr>
          <a:xfrm rot="10800000" flipV="1">
            <a:off x="1199239" y="930843"/>
            <a:ext cx="5866578" cy="1808444"/>
          </a:xfrm>
          <a:prstGeom prst="rect">
            <a:avLst/>
          </a:prstGeom>
          <a:noFill/>
        </p:spPr>
        <p:txBody>
          <a:bodyPr wrap="square" lIns="0" tIns="0" rIns="0" bIns="0" rtlCol="0" anchor="t">
            <a:spAutoFit/>
          </a:bodyPr>
          <a:lstStyle/>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Determines profitable output level</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Helps </a:t>
            </a:r>
            <a:r>
              <a:rPr kumimoji="0" lang="en-US" sz="1600" b="0" i="0" u="none" strike="noStrike" kern="0" cap="none" spc="0" normalizeH="0" baseline="0" noProof="0" dirty="0" err="1">
                <a:ln>
                  <a:noFill/>
                </a:ln>
                <a:effectLst/>
                <a:uLnTx/>
                <a:uFillTx/>
                <a:latin typeface="Calibri" panose="020F0502020204030204" pitchFamily="34" charset="0"/>
                <a:ea typeface="Calibri" panose="020F0502020204030204" pitchFamily="34" charset="0"/>
                <a:cs typeface="Calibri" panose="020F0502020204030204" pitchFamily="34" charset="0"/>
              </a:rPr>
              <a:t>maximise</a:t>
            </a: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production capacity</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Analyses cost price volume relation</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Supports pricing decisions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Aids profit </a:t>
            </a:r>
            <a:r>
              <a:rPr kumimoji="0" lang="en-US" sz="1600" b="0" i="0" u="none" strike="noStrike" kern="0" cap="none" spc="0" normalizeH="0" baseline="0" noProof="0" dirty="0" err="1">
                <a:ln>
                  <a:noFill/>
                </a:ln>
                <a:effectLst/>
                <a:uLnTx/>
                <a:uFillTx/>
                <a:latin typeface="Calibri" panose="020F0502020204030204" pitchFamily="34" charset="0"/>
                <a:ea typeface="Calibri" panose="020F0502020204030204" pitchFamily="34" charset="0"/>
                <a:cs typeface="Calibri" panose="020F0502020204030204" pitchFamily="34" charset="0"/>
              </a:rPr>
              <a:t>optimisation</a:t>
            </a:r>
            <a:endPar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9174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765A9-7583-419A-5311-ADF5054251FF}"/>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C54D6BD5-3EE1-E75E-1461-D0600519F454}"/>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Selecting Product Lines in Marginal Costing</a:t>
            </a:r>
          </a:p>
        </p:txBody>
      </p:sp>
      <p:sp>
        <p:nvSpPr>
          <p:cNvPr id="6" name="TextBox 5">
            <a:extLst>
              <a:ext uri="{FF2B5EF4-FFF2-40B4-BE49-F238E27FC236}">
                <a16:creationId xmlns:a16="http://schemas.microsoft.com/office/drawing/2014/main" id="{A10029A5-4F2A-5764-50A6-4CC1C32150BE}"/>
              </a:ext>
            </a:extLst>
          </p:cNvPr>
          <p:cNvSpPr txBox="1"/>
          <p:nvPr/>
        </p:nvSpPr>
        <p:spPr>
          <a:xfrm rot="10800000" flipV="1">
            <a:off x="1199239" y="930843"/>
            <a:ext cx="5866578" cy="1808444"/>
          </a:xfrm>
          <a:prstGeom prst="rect">
            <a:avLst/>
          </a:prstGeom>
          <a:noFill/>
        </p:spPr>
        <p:txBody>
          <a:bodyPr wrap="square" lIns="0" tIns="0" rIns="0" bIns="0" rtlCol="0" anchor="t">
            <a:spAutoFit/>
          </a:bodyPr>
          <a:lstStyle/>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Helps select profitable product lines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Compares product profitability levels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Focuses on contribution analysis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Eliminates less profitable products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Supports product mix decisions</a:t>
            </a:r>
          </a:p>
        </p:txBody>
      </p:sp>
    </p:spTree>
    <p:extLst>
      <p:ext uri="{BB962C8B-B14F-4D97-AF65-F5344CB8AC3E}">
        <p14:creationId xmlns:p14="http://schemas.microsoft.com/office/powerpoint/2010/main" val="101384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6EEBC-FA2C-C48C-7054-345BE62217A9}"/>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3521170D-1A10-D208-4B07-094F2F17FA0C}"/>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Produce or Procure Decision in Marginal Costing</a:t>
            </a:r>
          </a:p>
        </p:txBody>
      </p:sp>
      <p:sp>
        <p:nvSpPr>
          <p:cNvPr id="6" name="TextBox 5">
            <a:extLst>
              <a:ext uri="{FF2B5EF4-FFF2-40B4-BE49-F238E27FC236}">
                <a16:creationId xmlns:a16="http://schemas.microsoft.com/office/drawing/2014/main" id="{02BDC8C1-346D-C24A-6E38-0E4C6221C1D7}"/>
              </a:ext>
            </a:extLst>
          </p:cNvPr>
          <p:cNvSpPr txBox="1"/>
          <p:nvPr/>
        </p:nvSpPr>
        <p:spPr>
          <a:xfrm rot="10800000" flipV="1">
            <a:off x="1199239" y="930843"/>
            <a:ext cx="5866578" cy="1808444"/>
          </a:xfrm>
          <a:prstGeom prst="rect">
            <a:avLst/>
          </a:prstGeom>
          <a:noFill/>
        </p:spPr>
        <p:txBody>
          <a:bodyPr wrap="square" lIns="0" tIns="0" rIns="0" bIns="0" rtlCol="0" anchor="t">
            <a:spAutoFit/>
          </a:bodyPr>
          <a:lstStyle/>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Compare internal and external costs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Evaluate marginal cost of production</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Consider supplier purchase price</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Choose lower cost alternative</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Supports sourcing decisions</a:t>
            </a:r>
          </a:p>
        </p:txBody>
      </p:sp>
    </p:spTree>
    <p:extLst>
      <p:ext uri="{BB962C8B-B14F-4D97-AF65-F5344CB8AC3E}">
        <p14:creationId xmlns:p14="http://schemas.microsoft.com/office/powerpoint/2010/main" val="4058620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FFB47-5BAE-3F5F-A3DE-A658BA6688C3}"/>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51D40C9F-39E7-2D54-6DE8-1AF15281BF4F}"/>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Method of Manufacturing in Marginal Costing</a:t>
            </a:r>
          </a:p>
        </p:txBody>
      </p:sp>
      <p:sp>
        <p:nvSpPr>
          <p:cNvPr id="6" name="TextBox 5">
            <a:extLst>
              <a:ext uri="{FF2B5EF4-FFF2-40B4-BE49-F238E27FC236}">
                <a16:creationId xmlns:a16="http://schemas.microsoft.com/office/drawing/2014/main" id="{2E69BB25-F803-505B-040C-779EA5943DF3}"/>
              </a:ext>
            </a:extLst>
          </p:cNvPr>
          <p:cNvSpPr txBox="1"/>
          <p:nvPr/>
        </p:nvSpPr>
        <p:spPr>
          <a:xfrm rot="10800000" flipV="1">
            <a:off x="1199239" y="930843"/>
            <a:ext cx="5866578" cy="1808444"/>
          </a:xfrm>
          <a:prstGeom prst="rect">
            <a:avLst/>
          </a:prstGeom>
          <a:noFill/>
        </p:spPr>
        <p:txBody>
          <a:bodyPr wrap="square" lIns="0" tIns="0" rIns="0" bIns="0" rtlCol="0" anchor="t">
            <a:spAutoFit/>
          </a:bodyPr>
          <a:lstStyle/>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Choice between production methods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Compare marginal cost of methods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Identify cost difference clearly</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Select most economical method</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Supports efficient production decisions</a:t>
            </a:r>
          </a:p>
        </p:txBody>
      </p:sp>
    </p:spTree>
    <p:extLst>
      <p:ext uri="{BB962C8B-B14F-4D97-AF65-F5344CB8AC3E}">
        <p14:creationId xmlns:p14="http://schemas.microsoft.com/office/powerpoint/2010/main" val="2457288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DD23B-425C-B3F9-8E91-3ACB1788A3F0}"/>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E4F7758B-FAA2-D68C-2E95-62E672F7F289}"/>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Shut Down or Continue Decision in Marginal Costing</a:t>
            </a:r>
          </a:p>
        </p:txBody>
      </p:sp>
      <p:sp>
        <p:nvSpPr>
          <p:cNvPr id="6" name="TextBox 5">
            <a:extLst>
              <a:ext uri="{FF2B5EF4-FFF2-40B4-BE49-F238E27FC236}">
                <a16:creationId xmlns:a16="http://schemas.microsoft.com/office/drawing/2014/main" id="{65CCDAF1-362A-50B6-5E52-70D548E18E6D}"/>
              </a:ext>
            </a:extLst>
          </p:cNvPr>
          <p:cNvSpPr txBox="1"/>
          <p:nvPr/>
        </p:nvSpPr>
        <p:spPr>
          <a:xfrm rot="10800000" flipV="1">
            <a:off x="1199239" y="930843"/>
            <a:ext cx="5866578" cy="1808444"/>
          </a:xfrm>
          <a:prstGeom prst="rect">
            <a:avLst/>
          </a:prstGeom>
          <a:noFill/>
        </p:spPr>
        <p:txBody>
          <a:bodyPr wrap="square" lIns="0" tIns="0" rIns="0" bIns="0" rtlCol="0" anchor="t">
            <a:spAutoFit/>
          </a:bodyPr>
          <a:lstStyle/>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Helps decide continuation of production</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Useful during low demand periods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Compares contribution with fixed cost</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Avoids unnecessary shutdown losses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Supports short term decision making</a:t>
            </a:r>
          </a:p>
        </p:txBody>
      </p:sp>
    </p:spTree>
    <p:extLst>
      <p:ext uri="{BB962C8B-B14F-4D97-AF65-F5344CB8AC3E}">
        <p14:creationId xmlns:p14="http://schemas.microsoft.com/office/powerpoint/2010/main" val="4278852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444A5-40FF-2C3E-5647-2B516B8001B6}"/>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40873175-F5E1-D210-EEF2-6AC25433CF75}"/>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Role of Marginal Costing</a:t>
            </a:r>
          </a:p>
        </p:txBody>
      </p:sp>
      <p:sp>
        <p:nvSpPr>
          <p:cNvPr id="6" name="TextBox 5">
            <a:extLst>
              <a:ext uri="{FF2B5EF4-FFF2-40B4-BE49-F238E27FC236}">
                <a16:creationId xmlns:a16="http://schemas.microsoft.com/office/drawing/2014/main" id="{0B82F15F-E065-9A70-1294-443BAF9394DE}"/>
              </a:ext>
            </a:extLst>
          </p:cNvPr>
          <p:cNvSpPr txBox="1"/>
          <p:nvPr/>
        </p:nvSpPr>
        <p:spPr>
          <a:xfrm rot="10800000" flipV="1">
            <a:off x="1199239" y="1115509"/>
            <a:ext cx="5866578" cy="1439112"/>
          </a:xfrm>
          <a:prstGeom prst="rect">
            <a:avLst/>
          </a:prstGeom>
          <a:noFill/>
        </p:spPr>
        <p:txBody>
          <a:bodyPr wrap="square" lIns="0" tIns="0" rIns="0" bIns="0" rtlCol="0" anchor="t">
            <a:spAutoFit/>
          </a:bodyPr>
          <a:lstStyle/>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Supports managerial decision making</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Considers cost behaviour patterns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Aids key business decisions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Ensures profitability in challenges</a:t>
            </a:r>
          </a:p>
        </p:txBody>
      </p:sp>
    </p:spTree>
    <p:extLst>
      <p:ext uri="{BB962C8B-B14F-4D97-AF65-F5344CB8AC3E}">
        <p14:creationId xmlns:p14="http://schemas.microsoft.com/office/powerpoint/2010/main" val="412736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EF2D9-05D8-C9CE-DAEB-1FCDD084B51F}"/>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60BC9CD5-E10E-6016-83A2-0A61FBD65A9D}"/>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Income Statement under Marginal Costing Format</a:t>
            </a:r>
          </a:p>
        </p:txBody>
      </p:sp>
      <p:sp>
        <p:nvSpPr>
          <p:cNvPr id="6" name="TextBox 5">
            <a:extLst>
              <a:ext uri="{FF2B5EF4-FFF2-40B4-BE49-F238E27FC236}">
                <a16:creationId xmlns:a16="http://schemas.microsoft.com/office/drawing/2014/main" id="{8271698B-9100-7B21-9D58-5FA7F84DF2B1}"/>
              </a:ext>
            </a:extLst>
          </p:cNvPr>
          <p:cNvSpPr txBox="1"/>
          <p:nvPr/>
        </p:nvSpPr>
        <p:spPr>
          <a:xfrm rot="10800000" flipV="1">
            <a:off x="3394105" y="1622186"/>
            <a:ext cx="2440777" cy="331116"/>
          </a:xfrm>
          <a:prstGeom prst="rect">
            <a:avLst/>
          </a:prstGeom>
          <a:noFill/>
          <a:ln>
            <a:solidFill>
              <a:schemeClr val="accent1"/>
            </a:solidFill>
          </a:ln>
        </p:spPr>
        <p:txBody>
          <a:bodyPr wrap="square" lIns="0" tIns="0" rIns="0" bIns="0" rtlCol="0" anchor="t">
            <a:spAutoFit/>
          </a:bodyPr>
          <a:lstStyle/>
          <a:p>
            <a:pPr marR="0" lvl="0" defTabSz="1218987" eaLnBrk="1" fontAlgn="auto" latinLnBrk="0" hangingPunct="1">
              <a:lnSpc>
                <a:spcPct val="150000"/>
              </a:lnSpc>
              <a:spcBef>
                <a:spcPts val="0"/>
              </a:spcBef>
              <a:spcAft>
                <a:spcPts val="0"/>
              </a:spcAft>
              <a:buClrTx/>
              <a:buSzTx/>
              <a:tabLst/>
              <a:defRPr/>
            </a:pPr>
            <a:r>
              <a:rPr kumimoji="0" lang="en-US" sz="1600" b="1"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XYZ LTD. Product P</a:t>
            </a:r>
          </a:p>
        </p:txBody>
      </p:sp>
      <p:graphicFrame>
        <p:nvGraphicFramePr>
          <p:cNvPr id="3" name="Table 2">
            <a:extLst>
              <a:ext uri="{FF2B5EF4-FFF2-40B4-BE49-F238E27FC236}">
                <a16:creationId xmlns:a16="http://schemas.microsoft.com/office/drawing/2014/main" id="{C49A83E0-780A-FCD8-4AED-EE8D3B8294CA}"/>
              </a:ext>
            </a:extLst>
          </p:cNvPr>
          <p:cNvGraphicFramePr>
            <a:graphicFrameLocks noGrp="1"/>
          </p:cNvGraphicFramePr>
          <p:nvPr>
            <p:extLst>
              <p:ext uri="{D42A27DB-BD31-4B8C-83A1-F6EECF244321}">
                <p14:modId xmlns:p14="http://schemas.microsoft.com/office/powerpoint/2010/main" val="579142027"/>
              </p:ext>
            </p:extLst>
          </p:nvPr>
        </p:nvGraphicFramePr>
        <p:xfrm>
          <a:off x="2954215" y="2143959"/>
          <a:ext cx="4506058" cy="1967484"/>
        </p:xfrm>
        <a:graphic>
          <a:graphicData uri="http://schemas.openxmlformats.org/drawingml/2006/table">
            <a:tbl>
              <a:tblPr firstRow="1" bandRow="1">
                <a:tableStyleId>{5940675A-B579-460E-94D1-54222C63F5DA}</a:tableStyleId>
              </a:tblPr>
              <a:tblGrid>
                <a:gridCol w="2253029">
                  <a:extLst>
                    <a:ext uri="{9D8B030D-6E8A-4147-A177-3AD203B41FA5}">
                      <a16:colId xmlns:a16="http://schemas.microsoft.com/office/drawing/2014/main" val="2596553515"/>
                    </a:ext>
                  </a:extLst>
                </a:gridCol>
                <a:gridCol w="2253029">
                  <a:extLst>
                    <a:ext uri="{9D8B030D-6E8A-4147-A177-3AD203B41FA5}">
                      <a16:colId xmlns:a16="http://schemas.microsoft.com/office/drawing/2014/main" val="3871533632"/>
                    </a:ext>
                  </a:extLst>
                </a:gridCol>
              </a:tblGrid>
              <a:tr h="0">
                <a:tc>
                  <a:txBody>
                    <a:bodyPr/>
                    <a:lstStyle/>
                    <a:p>
                      <a:pPr algn="just">
                        <a:lnSpc>
                          <a:spcPct val="150000"/>
                        </a:lnSpc>
                        <a:spcAft>
                          <a:spcPts val="800"/>
                        </a:spcAft>
                        <a:buNone/>
                      </a:pPr>
                      <a:r>
                        <a:rPr lang="en-US" sz="1600">
                          <a:effectLst/>
                          <a:latin typeface="Calibri" panose="020F0502020204030204" pitchFamily="34" charset="0"/>
                          <a:ea typeface="Calibri" panose="020F0502020204030204" pitchFamily="34" charset="0"/>
                          <a:cs typeface="Calibri" panose="020F0502020204030204" pitchFamily="34" charset="0"/>
                        </a:rPr>
                        <a:t>Particulars</a:t>
                      </a:r>
                      <a:endParaRPr lang="en-GB" sz="16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50000"/>
                        </a:lnSpc>
                        <a:spcAft>
                          <a:spcPts val="800"/>
                        </a:spcAft>
                        <a:buNone/>
                      </a:pPr>
                      <a:r>
                        <a:rPr lang="en-US" sz="1600">
                          <a:effectLst/>
                          <a:latin typeface="Calibri" panose="020F0502020204030204" pitchFamily="34" charset="0"/>
                          <a:ea typeface="Calibri" panose="020F0502020204030204" pitchFamily="34" charset="0"/>
                          <a:cs typeface="Calibri" panose="020F0502020204030204" pitchFamily="34" charset="0"/>
                        </a:rPr>
                        <a:t>Amount (Rs.)</a:t>
                      </a:r>
                      <a:endParaRPr lang="en-GB" sz="16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781023700"/>
                  </a:ext>
                </a:extLst>
              </a:tr>
              <a:tr h="0">
                <a:tc>
                  <a:txBody>
                    <a:bodyPr/>
                    <a:lstStyle/>
                    <a:p>
                      <a:pPr algn="just">
                        <a:lnSpc>
                          <a:spcPct val="150000"/>
                        </a:lnSpc>
                        <a:spcAft>
                          <a:spcPts val="800"/>
                        </a:spcAft>
                        <a:buNone/>
                      </a:pPr>
                      <a:r>
                        <a:rPr lang="en-US" sz="1600">
                          <a:effectLst/>
                          <a:latin typeface="Calibri" panose="020F0502020204030204" pitchFamily="34" charset="0"/>
                          <a:ea typeface="Calibri" panose="020F0502020204030204" pitchFamily="34" charset="0"/>
                          <a:cs typeface="Calibri" panose="020F0502020204030204" pitchFamily="34" charset="0"/>
                        </a:rPr>
                        <a:t>Sales</a:t>
                      </a:r>
                      <a:endParaRPr lang="en-GB" sz="16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50000"/>
                        </a:lnSpc>
                        <a:spcAft>
                          <a:spcPts val="800"/>
                        </a:spcAft>
                        <a:buNone/>
                      </a:pPr>
                      <a:r>
                        <a:rPr lang="en-US" sz="1600">
                          <a:effectLst/>
                          <a:latin typeface="Calibri" panose="020F0502020204030204" pitchFamily="34" charset="0"/>
                          <a:ea typeface="Calibri" panose="020F0502020204030204" pitchFamily="34" charset="0"/>
                          <a:cs typeface="Calibri" panose="020F0502020204030204" pitchFamily="34" charset="0"/>
                        </a:rPr>
                        <a:t> </a:t>
                      </a:r>
                      <a:endParaRPr lang="en-GB" sz="16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619389712"/>
                  </a:ext>
                </a:extLst>
              </a:tr>
              <a:tr h="0">
                <a:tc>
                  <a:txBody>
                    <a:bodyPr/>
                    <a:lstStyle/>
                    <a:p>
                      <a:pPr algn="just">
                        <a:lnSpc>
                          <a:spcPct val="150000"/>
                        </a:lnSpc>
                        <a:spcAft>
                          <a:spcPts val="800"/>
                        </a:spcAft>
                        <a:buNone/>
                      </a:pPr>
                      <a:r>
                        <a:rPr lang="en-US" sz="1600">
                          <a:effectLst/>
                          <a:latin typeface="Calibri" panose="020F0502020204030204" pitchFamily="34" charset="0"/>
                          <a:ea typeface="Calibri" panose="020F0502020204030204" pitchFamily="34" charset="0"/>
                          <a:cs typeface="Calibri" panose="020F0502020204030204" pitchFamily="34" charset="0"/>
                        </a:rPr>
                        <a:t>Less: Variable Costs</a:t>
                      </a:r>
                      <a:endParaRPr lang="en-GB" sz="16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50000"/>
                        </a:lnSpc>
                        <a:spcAft>
                          <a:spcPts val="800"/>
                        </a:spcAft>
                        <a:buNone/>
                      </a:pPr>
                      <a:r>
                        <a:rPr lang="en-US" sz="1600">
                          <a:effectLst/>
                          <a:latin typeface="Calibri" panose="020F0502020204030204" pitchFamily="34" charset="0"/>
                          <a:ea typeface="Calibri" panose="020F0502020204030204" pitchFamily="34" charset="0"/>
                          <a:cs typeface="Calibri" panose="020F0502020204030204" pitchFamily="34" charset="0"/>
                        </a:rPr>
                        <a:t> </a:t>
                      </a:r>
                      <a:endParaRPr lang="en-GB" sz="16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694870309"/>
                  </a:ext>
                </a:extLst>
              </a:tr>
              <a:tr h="0">
                <a:tc>
                  <a:txBody>
                    <a:bodyPr/>
                    <a:lstStyle/>
                    <a:p>
                      <a:pPr algn="just">
                        <a:lnSpc>
                          <a:spcPct val="150000"/>
                        </a:lnSpc>
                        <a:spcAft>
                          <a:spcPts val="800"/>
                        </a:spcAft>
                        <a:buNone/>
                      </a:pPr>
                      <a:r>
                        <a:rPr lang="en-US" sz="1600">
                          <a:effectLst/>
                          <a:latin typeface="Calibri" panose="020F0502020204030204" pitchFamily="34" charset="0"/>
                          <a:ea typeface="Calibri" panose="020F0502020204030204" pitchFamily="34" charset="0"/>
                          <a:cs typeface="Calibri" panose="020F0502020204030204" pitchFamily="34" charset="0"/>
                        </a:rPr>
                        <a:t>Contribution</a:t>
                      </a:r>
                      <a:endParaRPr lang="en-GB" sz="16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50000"/>
                        </a:lnSpc>
                        <a:spcAft>
                          <a:spcPts val="800"/>
                        </a:spcAft>
                        <a:buNone/>
                      </a:pPr>
                      <a:r>
                        <a:rPr lang="en-US" sz="1600">
                          <a:effectLst/>
                          <a:latin typeface="Calibri" panose="020F0502020204030204" pitchFamily="34" charset="0"/>
                          <a:ea typeface="Calibri" panose="020F0502020204030204" pitchFamily="34" charset="0"/>
                          <a:cs typeface="Calibri" panose="020F0502020204030204" pitchFamily="34" charset="0"/>
                        </a:rPr>
                        <a:t> </a:t>
                      </a:r>
                      <a:endParaRPr lang="en-GB" sz="16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473672798"/>
                  </a:ext>
                </a:extLst>
              </a:tr>
              <a:tr h="0">
                <a:tc>
                  <a:txBody>
                    <a:bodyPr/>
                    <a:lstStyle/>
                    <a:p>
                      <a:pPr algn="just">
                        <a:lnSpc>
                          <a:spcPct val="150000"/>
                        </a:lnSpc>
                        <a:spcAft>
                          <a:spcPts val="800"/>
                        </a:spcAft>
                        <a:buNone/>
                      </a:pPr>
                      <a:r>
                        <a:rPr lang="en-US" sz="1600" dirty="0">
                          <a:effectLst/>
                          <a:latin typeface="Calibri" panose="020F0502020204030204" pitchFamily="34" charset="0"/>
                          <a:ea typeface="Calibri" panose="020F0502020204030204" pitchFamily="34" charset="0"/>
                          <a:cs typeface="Calibri" panose="020F0502020204030204" pitchFamily="34" charset="0"/>
                        </a:rPr>
                        <a:t>Less: Fixed Costs</a:t>
                      </a:r>
                      <a:endParaRPr lang="en-GB" sz="16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50000"/>
                        </a:lnSpc>
                        <a:spcAft>
                          <a:spcPts val="800"/>
                        </a:spcAft>
                        <a:buNone/>
                      </a:pPr>
                      <a:r>
                        <a:rPr lang="en-US" sz="1600">
                          <a:effectLst/>
                          <a:latin typeface="Calibri" panose="020F0502020204030204" pitchFamily="34" charset="0"/>
                          <a:ea typeface="Calibri" panose="020F0502020204030204" pitchFamily="34" charset="0"/>
                          <a:cs typeface="Calibri" panose="020F0502020204030204" pitchFamily="34" charset="0"/>
                        </a:rPr>
                        <a:t> </a:t>
                      </a:r>
                      <a:endParaRPr lang="en-GB" sz="16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417953082"/>
                  </a:ext>
                </a:extLst>
              </a:tr>
              <a:tr h="0">
                <a:tc>
                  <a:txBody>
                    <a:bodyPr/>
                    <a:lstStyle/>
                    <a:p>
                      <a:pPr algn="just">
                        <a:lnSpc>
                          <a:spcPct val="150000"/>
                        </a:lnSpc>
                        <a:spcAft>
                          <a:spcPts val="800"/>
                        </a:spcAft>
                        <a:buNone/>
                      </a:pPr>
                      <a:r>
                        <a:rPr lang="en-US" sz="1600">
                          <a:effectLst/>
                          <a:latin typeface="Calibri" panose="020F0502020204030204" pitchFamily="34" charset="0"/>
                          <a:ea typeface="Calibri" panose="020F0502020204030204" pitchFamily="34" charset="0"/>
                          <a:cs typeface="Calibri" panose="020F0502020204030204" pitchFamily="34" charset="0"/>
                        </a:rPr>
                        <a:t>Profit</a:t>
                      </a:r>
                      <a:endParaRPr lang="en-GB" sz="16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50000"/>
                        </a:lnSpc>
                        <a:spcAft>
                          <a:spcPts val="800"/>
                        </a:spcAft>
                        <a:buNone/>
                      </a:pPr>
                      <a:r>
                        <a:rPr lang="en-US" sz="1600" dirty="0">
                          <a:effectLst/>
                          <a:latin typeface="Calibri" panose="020F0502020204030204" pitchFamily="34" charset="0"/>
                          <a:ea typeface="Calibri" panose="020F0502020204030204" pitchFamily="34" charset="0"/>
                          <a:cs typeface="Calibri" panose="020F0502020204030204" pitchFamily="34" charset="0"/>
                        </a:rPr>
                        <a:t> </a:t>
                      </a:r>
                      <a:endParaRPr lang="en-GB" sz="16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427186000"/>
                  </a:ext>
                </a:extLst>
              </a:tr>
            </a:tbl>
          </a:graphicData>
        </a:graphic>
      </p:graphicFrame>
    </p:spTree>
    <p:extLst>
      <p:ext uri="{BB962C8B-B14F-4D97-AF65-F5344CB8AC3E}">
        <p14:creationId xmlns:p14="http://schemas.microsoft.com/office/powerpoint/2010/main" val="950127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7045-3158-85E9-E79C-21A6F39A7A17}"/>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5C70E4E0-9468-A37C-6550-8B61A03DED57}"/>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Example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837CCD6-7F2F-9E49-825B-7F514AA67618}"/>
                  </a:ext>
                </a:extLst>
              </p:cNvPr>
              <p:cNvSpPr txBox="1"/>
              <p:nvPr/>
            </p:nvSpPr>
            <p:spPr>
              <a:xfrm rot="10800000" flipV="1">
                <a:off x="1111316" y="1445816"/>
                <a:ext cx="5866578" cy="1846659"/>
              </a:xfrm>
              <a:prstGeom prst="rect">
                <a:avLst/>
              </a:prstGeom>
              <a:noFill/>
            </p:spPr>
            <p:txBody>
              <a:bodyPr wrap="square" lIns="0" tIns="0" rIns="0" bIns="0" rtlCol="0" anchor="t">
                <a:spAutoFit/>
              </a:bodyPr>
              <a:lstStyle/>
              <a:p>
                <a:pPr marL="285750" indent="-285750" fontAlgn="t">
                  <a:lnSpc>
                    <a:spcPct val="150000"/>
                  </a:lnSpc>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Sales = ₹1,00,000</a:t>
                </a:r>
              </a:p>
              <a:p>
                <a:pPr marL="285750" indent="-285750" fontAlgn="t">
                  <a:lnSpc>
                    <a:spcPct val="150000"/>
                  </a:lnSpc>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Variable cost = ₹60,000</a:t>
                </a:r>
              </a:p>
              <a:p>
                <a:pPr marL="285750" indent="-285750">
                  <a:lnSpc>
                    <a:spcPct val="150000"/>
                  </a:lnSpc>
                  <a:buFont typeface="Arial" panose="020B0604020202020204" pitchFamily="34" charset="0"/>
                  <a:buChar char="•"/>
                </a:pPr>
                <a14:m>
                  <m:oMath xmlns:m="http://schemas.openxmlformats.org/officeDocument/2006/math">
                    <m:r>
                      <m:rPr>
                        <m:nor/>
                      </m:rPr>
                      <a:rPr lang="en-GB" sz="1600">
                        <a:latin typeface="Calibri" panose="020F0502020204030204" pitchFamily="34" charset="0"/>
                        <a:ea typeface="Calibri" panose="020F0502020204030204" pitchFamily="34" charset="0"/>
                        <a:cs typeface="Calibri" panose="020F0502020204030204" pitchFamily="34" charset="0"/>
                      </a:rPr>
                      <m:t>Contribution</m:t>
                    </m:r>
                    <m:r>
                      <a:rPr lang="en-GB" sz="1600">
                        <a:latin typeface="Cambria Math" panose="02040503050406030204" pitchFamily="18" charset="0"/>
                      </a:rPr>
                      <m:t>=1,00,000−60,000=</m:t>
                    </m:r>
                    <m:r>
                      <m:rPr>
                        <m:nor/>
                      </m:rPr>
                      <a:rPr lang="en-GB" sz="1600" i="1">
                        <a:latin typeface="Calibri" panose="020F0502020204030204" pitchFamily="34" charset="0"/>
                        <a:ea typeface="Calibri" panose="020F0502020204030204" pitchFamily="34" charset="0"/>
                        <a:cs typeface="Calibri" panose="020F0502020204030204" pitchFamily="34" charset="0"/>
                      </a:rPr>
                      <m:t>₹</m:t>
                    </m:r>
                    <m:r>
                      <a:rPr lang="en-GB" sz="1600">
                        <a:latin typeface="Cambria Math" panose="02040503050406030204" pitchFamily="18" charset="0"/>
                      </a:rPr>
                      <m:t>40,000</m:t>
                    </m:r>
                  </m:oMath>
                </a14:m>
                <a:endParaRPr lang="en-GB" sz="1600" dirty="0">
                  <a:latin typeface="Calibri" panose="020F0502020204030204" pitchFamily="34" charset="0"/>
                  <a:ea typeface="Calibri" panose="020F0502020204030204" pitchFamily="34" charset="0"/>
                  <a:cs typeface="Calibri" panose="020F0502020204030204" pitchFamily="34" charset="0"/>
                </a:endParaRPr>
              </a:p>
              <a:p>
                <a:pPr marL="285750" indent="-285750" fontAlgn="t">
                  <a:lnSpc>
                    <a:spcPct val="150000"/>
                  </a:lnSpc>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Fixed cost = ₹25,000</a:t>
                </a:r>
              </a:p>
              <a:p>
                <a:pPr marL="285750" indent="-285750">
                  <a:lnSpc>
                    <a:spcPct val="150000"/>
                  </a:lnSpc>
                  <a:buFont typeface="Arial" panose="020B0604020202020204" pitchFamily="34" charset="0"/>
                  <a:buChar char="•"/>
                </a:pPr>
                <a14:m>
                  <m:oMath xmlns:m="http://schemas.openxmlformats.org/officeDocument/2006/math">
                    <m:r>
                      <m:rPr>
                        <m:nor/>
                      </m:rPr>
                      <a:rPr lang="en-GB" sz="1600">
                        <a:latin typeface="Calibri" panose="020F0502020204030204" pitchFamily="34" charset="0"/>
                        <a:ea typeface="Calibri" panose="020F0502020204030204" pitchFamily="34" charset="0"/>
                        <a:cs typeface="Calibri" panose="020F0502020204030204" pitchFamily="34" charset="0"/>
                      </a:rPr>
                      <m:t>Profit</m:t>
                    </m:r>
                    <m:r>
                      <a:rPr lang="en-GB" sz="1600">
                        <a:latin typeface="Cambria Math" panose="02040503050406030204" pitchFamily="18" charset="0"/>
                      </a:rPr>
                      <m:t>=40,000−25,000=</m:t>
                    </m:r>
                    <m:r>
                      <m:rPr>
                        <m:nor/>
                      </m:rPr>
                      <a:rPr lang="en-GB" sz="1600" i="1">
                        <a:latin typeface="Calibri" panose="020F0502020204030204" pitchFamily="34" charset="0"/>
                        <a:ea typeface="Calibri" panose="020F0502020204030204" pitchFamily="34" charset="0"/>
                        <a:cs typeface="Calibri" panose="020F0502020204030204" pitchFamily="34" charset="0"/>
                      </a:rPr>
                      <m:t>₹</m:t>
                    </m:r>
                    <m:r>
                      <a:rPr lang="en-GB" sz="1600">
                        <a:latin typeface="Cambria Math" panose="02040503050406030204" pitchFamily="18" charset="0"/>
                      </a:rPr>
                      <m:t>15,000</m:t>
                    </m:r>
                  </m:oMath>
                </a14:m>
                <a:endParaRPr lang="en-GB" sz="16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 name="TextBox 5">
                <a:extLst>
                  <a:ext uri="{FF2B5EF4-FFF2-40B4-BE49-F238E27FC236}">
                    <a16:creationId xmlns:a16="http://schemas.microsoft.com/office/drawing/2014/main" id="{1837CCD6-7F2F-9E49-825B-7F514AA67618}"/>
                  </a:ext>
                </a:extLst>
              </p:cNvPr>
              <p:cNvSpPr txBox="1">
                <a:spLocks noRot="1" noChangeAspect="1" noMove="1" noResize="1" noEditPoints="1" noAdjustHandles="1" noChangeArrowheads="1" noChangeShapeType="1" noTextEdit="1"/>
              </p:cNvSpPr>
              <p:nvPr/>
            </p:nvSpPr>
            <p:spPr>
              <a:xfrm rot="10800000" flipV="1">
                <a:off x="1111316" y="1445816"/>
                <a:ext cx="5866578" cy="1846659"/>
              </a:xfrm>
              <a:prstGeom prst="rect">
                <a:avLst/>
              </a:prstGeom>
              <a:blipFill>
                <a:blip r:embed="rId3"/>
                <a:stretch>
                  <a:fillRect l="-1973" b="-2640"/>
                </a:stretch>
              </a:blipFill>
            </p:spPr>
            <p:txBody>
              <a:bodyPr/>
              <a:lstStyle/>
              <a:p>
                <a:r>
                  <a:rPr lang="en-GB">
                    <a:noFill/>
                  </a:rPr>
                  <a:t> </a:t>
                </a:r>
              </a:p>
            </p:txBody>
          </p:sp>
        </mc:Fallback>
      </mc:AlternateContent>
    </p:spTree>
    <p:extLst>
      <p:ext uri="{BB962C8B-B14F-4D97-AF65-F5344CB8AC3E}">
        <p14:creationId xmlns:p14="http://schemas.microsoft.com/office/powerpoint/2010/main" val="1049571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A36E1-07A1-64BF-87CA-1E1FA2177B1A}"/>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BC996877-35F9-FE48-3DB8-7C4323BADC91}"/>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Features of Marginal Costing</a:t>
            </a:r>
          </a:p>
        </p:txBody>
      </p:sp>
      <p:sp>
        <p:nvSpPr>
          <p:cNvPr id="6" name="TextBox 5">
            <a:extLst>
              <a:ext uri="{FF2B5EF4-FFF2-40B4-BE49-F238E27FC236}">
                <a16:creationId xmlns:a16="http://schemas.microsoft.com/office/drawing/2014/main" id="{1C58FE44-2C24-98C3-BEAF-1ED614C4F5DD}"/>
              </a:ext>
            </a:extLst>
          </p:cNvPr>
          <p:cNvSpPr txBox="1"/>
          <p:nvPr/>
        </p:nvSpPr>
        <p:spPr>
          <a:xfrm rot="10800000" flipV="1">
            <a:off x="1199239" y="1300175"/>
            <a:ext cx="5866578" cy="1069780"/>
          </a:xfrm>
          <a:prstGeom prst="rect">
            <a:avLst/>
          </a:prstGeom>
          <a:noFill/>
        </p:spPr>
        <p:txBody>
          <a:bodyPr wrap="square" lIns="0" tIns="0" rIns="0" bIns="0" rtlCol="0" anchor="t">
            <a:spAutoFit/>
          </a:bodyPr>
          <a:lstStyle/>
          <a:p>
            <a:pPr marR="0" lvl="0" defTabSz="1218987" eaLnBrk="1" fontAlgn="auto" latinLnBrk="0" hangingPunct="1">
              <a:lnSpc>
                <a:spcPct val="150000"/>
              </a:lnSpc>
              <a:spcBef>
                <a:spcPts val="0"/>
              </a:spcBef>
              <a:spcAft>
                <a:spcPts val="0"/>
              </a:spcAft>
              <a:buClrTx/>
              <a:buSzTx/>
              <a:tabLst/>
              <a:defRPr/>
            </a:pPr>
            <a:r>
              <a:rPr kumimoji="0" lang="en-US" sz="1600" b="1"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Technique of Analysis </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Helps management in decision‑making</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Supports evaluation of alternative choices</a:t>
            </a:r>
          </a:p>
        </p:txBody>
      </p:sp>
      <p:sp>
        <p:nvSpPr>
          <p:cNvPr id="4" name="TextBox 3">
            <a:extLst>
              <a:ext uri="{FF2B5EF4-FFF2-40B4-BE49-F238E27FC236}">
                <a16:creationId xmlns:a16="http://schemas.microsoft.com/office/drawing/2014/main" id="{04C3DFD8-AB64-FE59-DA5A-F8B081C5259D}"/>
              </a:ext>
            </a:extLst>
          </p:cNvPr>
          <p:cNvSpPr txBox="1"/>
          <p:nvPr/>
        </p:nvSpPr>
        <p:spPr>
          <a:xfrm>
            <a:off x="4199656" y="3002712"/>
            <a:ext cx="5090746" cy="1162113"/>
          </a:xfrm>
          <a:prstGeom prst="rect">
            <a:avLst/>
          </a:prstGeom>
          <a:noFill/>
        </p:spPr>
        <p:txBody>
          <a:bodyPr wrap="square">
            <a:spAutoFit/>
          </a:bodyPr>
          <a:lstStyle/>
          <a:p>
            <a:pPr marR="0" lvl="0" defTabSz="1218987" eaLnBrk="1" fontAlgn="auto" latinLnBrk="0" hangingPunct="1">
              <a:lnSpc>
                <a:spcPct val="150000"/>
              </a:lnSpc>
              <a:spcBef>
                <a:spcPts val="0"/>
              </a:spcBef>
              <a:spcAft>
                <a:spcPts val="0"/>
              </a:spcAft>
              <a:buClrTx/>
              <a:buSzTx/>
              <a:tabLst/>
              <a:defRPr/>
            </a:pPr>
            <a:r>
              <a:rPr kumimoji="0" lang="en-US" sz="1600" b="1"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Segregation of Costs </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Variable costs considered relevant for decisions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Fixed costs treated as period charges</a:t>
            </a:r>
          </a:p>
        </p:txBody>
      </p:sp>
    </p:spTree>
    <p:extLst>
      <p:ext uri="{BB962C8B-B14F-4D97-AF65-F5344CB8AC3E}">
        <p14:creationId xmlns:p14="http://schemas.microsoft.com/office/powerpoint/2010/main" val="2251679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8533C-273A-D59C-CD7B-9EFE71979CA7}"/>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E5E8B5AC-3395-7DBF-CE67-F0B83B8FC81E}"/>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Features of Marginal Costing</a:t>
            </a:r>
          </a:p>
        </p:txBody>
      </p:sp>
      <p:sp>
        <p:nvSpPr>
          <p:cNvPr id="6" name="TextBox 5">
            <a:extLst>
              <a:ext uri="{FF2B5EF4-FFF2-40B4-BE49-F238E27FC236}">
                <a16:creationId xmlns:a16="http://schemas.microsoft.com/office/drawing/2014/main" id="{954F9E61-2BE8-2F50-E932-905143F5CCCB}"/>
              </a:ext>
            </a:extLst>
          </p:cNvPr>
          <p:cNvSpPr txBox="1"/>
          <p:nvPr/>
        </p:nvSpPr>
        <p:spPr>
          <a:xfrm rot="10800000" flipV="1">
            <a:off x="1199239" y="1300175"/>
            <a:ext cx="5866578" cy="1069780"/>
          </a:xfrm>
          <a:prstGeom prst="rect">
            <a:avLst/>
          </a:prstGeom>
          <a:noFill/>
        </p:spPr>
        <p:txBody>
          <a:bodyPr wrap="square" lIns="0" tIns="0" rIns="0" bIns="0" rtlCol="0" anchor="t">
            <a:spAutoFit/>
          </a:bodyPr>
          <a:lstStyle/>
          <a:p>
            <a:pPr marR="0" lvl="0" defTabSz="1218987" eaLnBrk="1" fontAlgn="auto" latinLnBrk="0" hangingPunct="1">
              <a:lnSpc>
                <a:spcPct val="150000"/>
              </a:lnSpc>
              <a:spcBef>
                <a:spcPts val="0"/>
              </a:spcBef>
              <a:spcAft>
                <a:spcPts val="0"/>
              </a:spcAft>
              <a:buClrTx/>
              <a:buSzTx/>
              <a:tabLst/>
              <a:defRPr/>
            </a:pPr>
            <a:r>
              <a:rPr kumimoji="0" lang="en-US" sz="1600" b="1"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Marginal Costs as Product Costs </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Only variable costs charged to products </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Supports contribution analysis for decisions</a:t>
            </a:r>
          </a:p>
        </p:txBody>
      </p:sp>
      <p:sp>
        <p:nvSpPr>
          <p:cNvPr id="4" name="TextBox 3">
            <a:extLst>
              <a:ext uri="{FF2B5EF4-FFF2-40B4-BE49-F238E27FC236}">
                <a16:creationId xmlns:a16="http://schemas.microsoft.com/office/drawing/2014/main" id="{A3EF8B4F-F167-E0B3-3F79-515FFC729866}"/>
              </a:ext>
            </a:extLst>
          </p:cNvPr>
          <p:cNvSpPr txBox="1"/>
          <p:nvPr/>
        </p:nvSpPr>
        <p:spPr>
          <a:xfrm>
            <a:off x="4572000" y="3138150"/>
            <a:ext cx="5090746" cy="1162113"/>
          </a:xfrm>
          <a:prstGeom prst="rect">
            <a:avLst/>
          </a:prstGeom>
          <a:noFill/>
        </p:spPr>
        <p:txBody>
          <a:bodyPr wrap="square">
            <a:spAutoFit/>
          </a:bodyPr>
          <a:lstStyle/>
          <a:p>
            <a:pPr marR="0" lvl="0" defTabSz="1218987" eaLnBrk="1" fontAlgn="auto" latinLnBrk="0" hangingPunct="1">
              <a:lnSpc>
                <a:spcPct val="150000"/>
              </a:lnSpc>
              <a:spcBef>
                <a:spcPts val="0"/>
              </a:spcBef>
              <a:spcAft>
                <a:spcPts val="0"/>
              </a:spcAft>
              <a:buClrTx/>
              <a:buSzTx/>
              <a:tabLst/>
              <a:defRPr/>
            </a:pPr>
            <a:r>
              <a:rPr kumimoji="0" lang="en-US" sz="1600" b="1"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Fixed Costs as Period Costs </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Not allocated to individual products </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Written off against contribution margin</a:t>
            </a:r>
          </a:p>
        </p:txBody>
      </p:sp>
    </p:spTree>
    <p:extLst>
      <p:ext uri="{BB962C8B-B14F-4D97-AF65-F5344CB8AC3E}">
        <p14:creationId xmlns:p14="http://schemas.microsoft.com/office/powerpoint/2010/main" val="128480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300F7-5404-EB9B-D3BA-CF4A6ABE034C}"/>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B3FEC256-B2F5-7D57-8B8A-FD7FE40A2406}"/>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Valuation of Inventory in Marginal Costing</a:t>
            </a:r>
          </a:p>
        </p:txBody>
      </p:sp>
      <p:sp>
        <p:nvSpPr>
          <p:cNvPr id="6" name="TextBox 5">
            <a:extLst>
              <a:ext uri="{FF2B5EF4-FFF2-40B4-BE49-F238E27FC236}">
                <a16:creationId xmlns:a16="http://schemas.microsoft.com/office/drawing/2014/main" id="{760D93AE-9564-B7A6-7317-C98C2231E318}"/>
              </a:ext>
            </a:extLst>
          </p:cNvPr>
          <p:cNvSpPr txBox="1"/>
          <p:nvPr/>
        </p:nvSpPr>
        <p:spPr>
          <a:xfrm rot="10800000" flipV="1">
            <a:off x="1199239" y="930843"/>
            <a:ext cx="5866578" cy="1808444"/>
          </a:xfrm>
          <a:prstGeom prst="rect">
            <a:avLst/>
          </a:prstGeom>
          <a:noFill/>
        </p:spPr>
        <p:txBody>
          <a:bodyPr wrap="square" lIns="0" tIns="0" rIns="0" bIns="0" rtlCol="0" anchor="t">
            <a:spAutoFit/>
          </a:bodyPr>
          <a:lstStyle/>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Inventory valued at marginal cost</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Includes work in progress goods</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Includes finished goods valuation</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Fixed costs are excluded</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Avoids overvaluation of stock</a:t>
            </a:r>
          </a:p>
        </p:txBody>
      </p:sp>
    </p:spTree>
    <p:extLst>
      <p:ext uri="{BB962C8B-B14F-4D97-AF65-F5344CB8AC3E}">
        <p14:creationId xmlns:p14="http://schemas.microsoft.com/office/powerpoint/2010/main" val="1632513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50353-ECC6-3AD4-5E09-87E3CBBA246F}"/>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257B3926-4DD4-B2B0-B713-7EB5A218764C}"/>
              </a:ext>
            </a:extLst>
          </p:cNvPr>
          <p:cNvSpPr/>
          <p:nvPr/>
        </p:nvSpPr>
        <p:spPr>
          <a:xfrm>
            <a:off x="378920" y="123340"/>
            <a:ext cx="5455962" cy="408640"/>
          </a:xfrm>
          <a:prstGeom prst="rect">
            <a:avLst/>
          </a:prstGeom>
          <a:noFill/>
          <a:ln/>
        </p:spPr>
        <p:txBody>
          <a:bodyPr wrap="square" lIns="0" tIns="0" rIns="0" bIns="0" rtlCol="0" anchor="ctr"/>
          <a:lstStyle/>
          <a:p>
            <a:pPr lvl="0" defTabSz="914400">
              <a:defRPr/>
            </a:pPr>
            <a:r>
              <a:rPr lang="en-US" sz="2400" b="1" dirty="0">
                <a:solidFill>
                  <a:srgbClr val="FFFFFF"/>
                </a:solidFill>
                <a:latin typeface="Calibri" pitchFamily="34" charset="0"/>
                <a:ea typeface="Calibri" pitchFamily="34" charset="-122"/>
                <a:cs typeface="Calibri" pitchFamily="34" charset="-120"/>
              </a:rPr>
              <a:t>Contribution Analysis in Marginal Costing</a:t>
            </a:r>
          </a:p>
        </p:txBody>
      </p:sp>
      <p:sp>
        <p:nvSpPr>
          <p:cNvPr id="6" name="TextBox 5">
            <a:extLst>
              <a:ext uri="{FF2B5EF4-FFF2-40B4-BE49-F238E27FC236}">
                <a16:creationId xmlns:a16="http://schemas.microsoft.com/office/drawing/2014/main" id="{EF2BC016-EE6A-4BED-02A3-F0D1C7CC0E26}"/>
              </a:ext>
            </a:extLst>
          </p:cNvPr>
          <p:cNvSpPr txBox="1"/>
          <p:nvPr/>
        </p:nvSpPr>
        <p:spPr>
          <a:xfrm rot="10800000" flipV="1">
            <a:off x="1199239" y="1115509"/>
            <a:ext cx="5866578" cy="1439112"/>
          </a:xfrm>
          <a:prstGeom prst="rect">
            <a:avLst/>
          </a:prstGeom>
          <a:noFill/>
        </p:spPr>
        <p:txBody>
          <a:bodyPr wrap="square" lIns="0" tIns="0" rIns="0" bIns="0" rtlCol="0" anchor="t">
            <a:spAutoFit/>
          </a:bodyPr>
          <a:lstStyle/>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Formula: Sales - variable cost</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Covers fixed costs and profit</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Measures profitability clearly</a:t>
            </a:r>
          </a:p>
          <a:p>
            <a:pPr marL="285750" marR="0" lvl="0" indent="-285750" defTabSz="1218987"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Useful for short term decisions</a:t>
            </a:r>
          </a:p>
        </p:txBody>
      </p:sp>
    </p:spTree>
    <p:extLst>
      <p:ext uri="{BB962C8B-B14F-4D97-AF65-F5344CB8AC3E}">
        <p14:creationId xmlns:p14="http://schemas.microsoft.com/office/powerpoint/2010/main" val="2060068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449CE-FDF1-3205-FF0B-301F4C4BC268}"/>
            </a:ext>
          </a:extLst>
        </p:cNvPr>
        <p:cNvGrpSpPr/>
        <p:nvPr/>
      </p:nvGrpSpPr>
      <p:grpSpPr>
        <a:xfrm>
          <a:off x="0" y="0"/>
          <a:ext cx="0" cy="0"/>
          <a:chOff x="0" y="0"/>
          <a:chExt cx="0" cy="0"/>
        </a:xfrm>
      </p:grpSpPr>
      <p:sp>
        <p:nvSpPr>
          <p:cNvPr id="2" name="Text 8">
            <a:extLst>
              <a:ext uri="{FF2B5EF4-FFF2-40B4-BE49-F238E27FC236}">
                <a16:creationId xmlns:a16="http://schemas.microsoft.com/office/drawing/2014/main" id="{F9DC2366-39E1-C124-12B8-30A946F952FE}"/>
              </a:ext>
            </a:extLst>
          </p:cNvPr>
          <p:cNvSpPr/>
          <p:nvPr/>
        </p:nvSpPr>
        <p:spPr>
          <a:xfrm>
            <a:off x="378920" y="123340"/>
            <a:ext cx="4457369" cy="40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Summary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Rectangle: Rounded Corners 3">
            <a:extLst>
              <a:ext uri="{FF2B5EF4-FFF2-40B4-BE49-F238E27FC236}">
                <a16:creationId xmlns:a16="http://schemas.microsoft.com/office/drawing/2014/main" id="{519FD0C5-A7CF-76C1-A713-FAC1DB845F69}"/>
              </a:ext>
            </a:extLst>
          </p:cNvPr>
          <p:cNvSpPr/>
          <p:nvPr/>
        </p:nvSpPr>
        <p:spPr>
          <a:xfrm>
            <a:off x="6028735" y="1352550"/>
            <a:ext cx="2726757" cy="3271838"/>
          </a:xfrm>
          <a:prstGeom prst="roundRect">
            <a:avLst>
              <a:gd name="adj" fmla="val 7914"/>
            </a:avLst>
          </a:prstGeom>
          <a:solidFill>
            <a:srgbClr val="F47820"/>
          </a:solidFill>
          <a:ln cap="rnd">
            <a:solidFill>
              <a:srgbClr val="F47820"/>
            </a:solidFill>
          </a:ln>
          <a:effectLst>
            <a:softEdge rad="0"/>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91440" bIns="91440" numCol="1" spcCol="1270" rtlCol="0" anchor="ctr" anchorCtr="0">
            <a:noAutofit/>
          </a:bodyPr>
          <a:lstStyle/>
          <a:p>
            <a:pPr marL="0" indent="0" algn="ctr" defTabSz="1066800">
              <a:lnSpc>
                <a:spcPct val="90000"/>
              </a:lnSpc>
              <a:spcBef>
                <a:spcPct val="0"/>
              </a:spcBef>
              <a:spcAft>
                <a:spcPct val="35000"/>
              </a:spcAft>
              <a:buClr>
                <a:srgbClr val="008CCB"/>
              </a:buClr>
              <a:buFont typeface="Wingdings" panose="05000000000000000000" pitchFamily="2" charset="2"/>
              <a:buNone/>
            </a:pPr>
            <a:r>
              <a:rPr lang="en-GB" sz="2400" b="1" kern="1200" noProof="0" dirty="0">
                <a:latin typeface="+mn-lt"/>
              </a:rPr>
              <a:t>SME Place Holder</a:t>
            </a:r>
          </a:p>
        </p:txBody>
      </p:sp>
      <p:sp>
        <p:nvSpPr>
          <p:cNvPr id="3" name="Rectangle: Rounded Corners 2">
            <a:extLst>
              <a:ext uri="{FF2B5EF4-FFF2-40B4-BE49-F238E27FC236}">
                <a16:creationId xmlns:a16="http://schemas.microsoft.com/office/drawing/2014/main" id="{ED71E13B-2911-9437-6F93-4A4B4C423DA5}"/>
              </a:ext>
            </a:extLst>
          </p:cNvPr>
          <p:cNvSpPr/>
          <p:nvPr/>
        </p:nvSpPr>
        <p:spPr>
          <a:xfrm>
            <a:off x="413331" y="1594520"/>
            <a:ext cx="4291012" cy="2220913"/>
          </a:xfrm>
          <a:prstGeom prst="roundRect">
            <a:avLst>
              <a:gd name="adj" fmla="val 5474"/>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In this session, we explored marginal costing, highlighting contribution analysis, cost behaviour, and its role in supporting production planning, profitability assessment, and informed managerial decision‑making under changing business conditions.</a:t>
            </a:r>
            <a:endPar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5421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1030</TotalTime>
  <Words>4110</Words>
  <Application>Microsoft Office PowerPoint</Application>
  <PresentationFormat>On-screen Show (16:9)</PresentationFormat>
  <Paragraphs>222</Paragraphs>
  <Slides>23</Slides>
  <Notes>23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23</vt:i4>
      </vt:variant>
    </vt:vector>
  </HeadingPairs>
  <TitlesOfParts>
    <vt:vector size="33" baseType="lpstr">
      <vt:lpstr>Aptos</vt:lpstr>
      <vt:lpstr>Aptos Display</vt:lpstr>
      <vt:lpstr>Arial</vt:lpstr>
      <vt:lpstr>Calibri</vt:lpstr>
      <vt:lpstr>Calibri Light</vt:lpstr>
      <vt:lpstr>Cambria Math</vt:lpstr>
      <vt:lpstr>Google Sans</vt:lpstr>
      <vt:lpstr>Wingdings</vt:lpstr>
      <vt:lpstr>Office 2013 - 2022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Greeshma CU</dc:creator>
  <cp:lastModifiedBy>Manjuvani Parthore</cp:lastModifiedBy>
  <cp:revision>114</cp:revision>
  <dcterms:created xsi:type="dcterms:W3CDTF">2026-06-08T13:50:05Z</dcterms:created>
  <dcterms:modified xsi:type="dcterms:W3CDTF">2026-06-29T07:06:11Z</dcterms:modified>
</cp:coreProperties>
</file>